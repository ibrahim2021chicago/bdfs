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omments/modernComment_100_2321B3E3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sldIdLst>
    <p:sldId id="258" r:id="rId5"/>
    <p:sldId id="262" r:id="rId6"/>
    <p:sldId id="266" r:id="rId7"/>
    <p:sldId id="264" r:id="rId8"/>
    <p:sldId id="265" r:id="rId9"/>
    <p:sldId id="263" r:id="rId10"/>
    <p:sldId id="256" r:id="rId11"/>
    <p:sldId id="25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7C546E4-6392-5CAD-3D29-575A00E0562B}" name="Alea Huggins" initials="AH" userId="S::aleahuggins@discover.com::0095dc9c-055e-4033-b981-d5dac2b2799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460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omments/modernComment_100_2321B3E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B6D8327-DC05-46A5-8223-2491B22ADBA8}" authorId="{87C546E4-6392-5CAD-3D29-575A00E0562B}" created="2022-06-20T18:31:43.795">
    <pc:sldMkLst xmlns:pc="http://schemas.microsoft.com/office/powerpoint/2013/main/command">
      <pc:docMk/>
      <pc:sldMk cId="589411299" sldId="256"/>
    </pc:sldMkLst>
    <p188:pos x="3216275" y="933450"/>
    <p188:txBody>
      <a:bodyPr/>
      <a:lstStyle/>
      <a:p>
        <a:r>
          <a:rPr lang="en-US"/>
          <a:t>What is the correct term to use? Support group, support team, assignment group, etc.?</a:t>
        </a:r>
      </a:p>
    </p188:txBody>
  </p188:cm>
  <p188:cm id="{380D102A-3381-4258-83B2-0F7DF537748E}" authorId="{87C546E4-6392-5CAD-3D29-575A00E0562B}" created="2022-06-20T18:32:55.477">
    <pc:sldMkLst xmlns:pc="http://schemas.microsoft.com/office/powerpoint/2013/main/command">
      <pc:docMk/>
      <pc:sldMk cId="589411299" sldId="256"/>
    </pc:sldMkLst>
    <p188:pos x="3092450" y="2733675"/>
    <p188:txBody>
      <a:bodyPr/>
      <a:lstStyle/>
      <a:p>
        <a:r>
          <a:rPr lang="en-US"/>
          <a:t>What is the formal entity used to refer to teams that support CICD tools/systems?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8E02FC-AC98-447F-9733-A0BB9D5FE3FD}" type="datetimeFigureOut">
              <a:t>12/16/2025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C876C0-6FD4-4DA3-B2FA-A9D72189CF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6816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cs typeface="Calibri"/>
              </a:rPr>
              <a:t>Takeaways:</a:t>
            </a:r>
          </a:p>
          <a:p>
            <a:r>
              <a:rPr lang="en-US">
                <a:cs typeface="Calibri"/>
              </a:rPr>
              <a:t>Shift focus to self-service information rather than on where to submit support tickets</a:t>
            </a:r>
          </a:p>
          <a:p>
            <a:r>
              <a:rPr lang="en-US">
                <a:cs typeface="Calibri"/>
              </a:rPr>
              <a:t>Sedate and </a:t>
            </a:r>
            <a:r>
              <a:rPr lang="en-US" err="1">
                <a:cs typeface="Calibri"/>
              </a:rPr>
              <a:t>Huduku</a:t>
            </a:r>
            <a:r>
              <a:rPr lang="en-US">
                <a:cs typeface="Calibri"/>
              </a:rPr>
              <a:t> should be added a CICD tools</a:t>
            </a:r>
          </a:p>
          <a:p>
            <a:r>
              <a:rPr lang="en-US">
                <a:cs typeface="Calibri"/>
              </a:rPr>
              <a:t>Trident related issues get routed through the EA-CICD support team</a:t>
            </a:r>
          </a:p>
          <a:p>
            <a:r>
              <a:rPr lang="en-US">
                <a:cs typeface="Calibri"/>
              </a:rPr>
              <a:t>"Trident Documentation" is too vague, these materials center on "how to use" Trident—be more explicit about this</a:t>
            </a:r>
          </a:p>
          <a:p>
            <a:r>
              <a:rPr lang="en-US">
                <a:cs typeface="Calibri"/>
              </a:rPr>
              <a:t>Need to re-think language on how to distinguish between a major outrage vs. issues that may not be a critical</a:t>
            </a:r>
          </a:p>
          <a:p>
            <a:r>
              <a:rPr lang="en-US" sz="1200" b="0">
                <a:latin typeface="Discover Sans" pitchFamily="2" charset="0"/>
                <a:ea typeface="Discover Sans" pitchFamily="2" charset="0"/>
              </a:rPr>
              <a:t>Consider how to better associate Trident with other platforms (e.g. OCP)</a:t>
            </a:r>
          </a:p>
          <a:p>
            <a:endParaRPr lang="en-US" b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876C0-6FD4-4DA3-B2FA-A9D72189CFEC}" type="slidenum"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4958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cs typeface="Calibri"/>
              </a:rPr>
              <a:t>Takeaways:</a:t>
            </a:r>
          </a:p>
          <a:p>
            <a:r>
              <a:rPr lang="en-US">
                <a:cs typeface="Calibri"/>
              </a:rPr>
              <a:t>Shift focus to self-service information rather than on where to submit support tickets</a:t>
            </a:r>
          </a:p>
          <a:p>
            <a:r>
              <a:rPr lang="en-US">
                <a:cs typeface="Calibri"/>
              </a:rPr>
              <a:t>Sedate and </a:t>
            </a:r>
            <a:r>
              <a:rPr lang="en-US" err="1">
                <a:cs typeface="Calibri"/>
              </a:rPr>
              <a:t>Huduku</a:t>
            </a:r>
            <a:r>
              <a:rPr lang="en-US">
                <a:cs typeface="Calibri"/>
              </a:rPr>
              <a:t> should be added a CICD tools</a:t>
            </a:r>
          </a:p>
          <a:p>
            <a:r>
              <a:rPr lang="en-US">
                <a:cs typeface="Calibri"/>
              </a:rPr>
              <a:t>Trident related issues get routed through the EA-CICD support team</a:t>
            </a:r>
          </a:p>
          <a:p>
            <a:r>
              <a:rPr lang="en-US">
                <a:cs typeface="Calibri"/>
              </a:rPr>
              <a:t>"Trident Documentation" is too vague, these materials center on "how to use" Trident—be more explicit about this</a:t>
            </a:r>
          </a:p>
          <a:p>
            <a:r>
              <a:rPr lang="en-US">
                <a:cs typeface="Calibri"/>
              </a:rPr>
              <a:t>Need to re-think language on how to distinguish between a major outrage vs. issues that may not be a critical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C876C0-6FD4-4DA3-B2FA-A9D72189CFEC}" type="slidenum"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25268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cs typeface="Calibri"/>
              </a:rPr>
              <a:t>Takeaways:</a:t>
            </a:r>
          </a:p>
          <a:p>
            <a:r>
              <a:rPr lang="en-US">
                <a:cs typeface="Calibri"/>
              </a:rPr>
              <a:t>Shift focus to self-service information rather than on where to submit support tickets</a:t>
            </a:r>
          </a:p>
          <a:p>
            <a:r>
              <a:rPr lang="en-US">
                <a:cs typeface="Calibri"/>
              </a:rPr>
              <a:t>Sedate and </a:t>
            </a:r>
            <a:r>
              <a:rPr lang="en-US" err="1">
                <a:cs typeface="Calibri"/>
              </a:rPr>
              <a:t>Huduku</a:t>
            </a:r>
            <a:r>
              <a:rPr lang="en-US">
                <a:cs typeface="Calibri"/>
              </a:rPr>
              <a:t> should be added a CICD tools</a:t>
            </a:r>
          </a:p>
          <a:p>
            <a:r>
              <a:rPr lang="en-US">
                <a:cs typeface="Calibri"/>
              </a:rPr>
              <a:t>Trident related issues get routed through the EA-CICD support team</a:t>
            </a:r>
          </a:p>
          <a:p>
            <a:r>
              <a:rPr lang="en-US">
                <a:cs typeface="Calibri"/>
              </a:rPr>
              <a:t>"Trident Documentation" is too vague, these materials center on "how to use" Trident—be more explicit about this</a:t>
            </a:r>
          </a:p>
          <a:p>
            <a:r>
              <a:rPr lang="en-US">
                <a:cs typeface="Calibri"/>
              </a:rPr>
              <a:t>Need to re-think language on how to distinguish between a major outrage vs. issues that may not be a critical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C876C0-6FD4-4DA3-B2FA-A9D72189CFEC}" type="slidenum"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1628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cs typeface="Calibri"/>
              </a:rPr>
              <a:t>Takeaways:</a:t>
            </a:r>
          </a:p>
          <a:p>
            <a:r>
              <a:rPr lang="en-US">
                <a:cs typeface="Calibri"/>
              </a:rPr>
              <a:t>Shift focus to self-service information rather than on where to submit support tickets</a:t>
            </a:r>
          </a:p>
          <a:p>
            <a:r>
              <a:rPr lang="en-US">
                <a:cs typeface="Calibri"/>
              </a:rPr>
              <a:t>Sedate and </a:t>
            </a:r>
            <a:r>
              <a:rPr lang="en-US" err="1">
                <a:cs typeface="Calibri"/>
              </a:rPr>
              <a:t>Huduku</a:t>
            </a:r>
            <a:r>
              <a:rPr lang="en-US">
                <a:cs typeface="Calibri"/>
              </a:rPr>
              <a:t> should be added a CICD tools</a:t>
            </a:r>
          </a:p>
          <a:p>
            <a:r>
              <a:rPr lang="en-US">
                <a:cs typeface="Calibri"/>
              </a:rPr>
              <a:t>Trident related issues get routed through the EA-CICD support team</a:t>
            </a:r>
          </a:p>
          <a:p>
            <a:r>
              <a:rPr lang="en-US">
                <a:cs typeface="Calibri"/>
              </a:rPr>
              <a:t>"Trident Documentation" is too vague, these materials center on "how to use" Trident—be more explicit about this</a:t>
            </a:r>
          </a:p>
          <a:p>
            <a:r>
              <a:rPr lang="en-US">
                <a:cs typeface="Calibri"/>
              </a:rPr>
              <a:t>Need to re-think language on how to distinguish between a major outrage vs. issues that may not be a critical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C876C0-6FD4-4DA3-B2FA-A9D72189CFEC}" type="slidenum"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325093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cs typeface="Calibri"/>
              </a:rPr>
              <a:t>Takeaways:</a:t>
            </a:r>
          </a:p>
          <a:p>
            <a:r>
              <a:rPr lang="en-US">
                <a:cs typeface="Calibri"/>
              </a:rPr>
              <a:t>Shift focus to self-service information rather than on where to submit support tickets</a:t>
            </a:r>
          </a:p>
          <a:p>
            <a:r>
              <a:rPr lang="en-US">
                <a:cs typeface="Calibri"/>
              </a:rPr>
              <a:t>Sedate and </a:t>
            </a:r>
            <a:r>
              <a:rPr lang="en-US" err="1">
                <a:cs typeface="Calibri"/>
              </a:rPr>
              <a:t>Huduku</a:t>
            </a:r>
            <a:r>
              <a:rPr lang="en-US">
                <a:cs typeface="Calibri"/>
              </a:rPr>
              <a:t> should be added a CICD tools</a:t>
            </a:r>
          </a:p>
          <a:p>
            <a:r>
              <a:rPr lang="en-US">
                <a:cs typeface="Calibri"/>
              </a:rPr>
              <a:t>Trident related issues get routed through the EA-CICD support team</a:t>
            </a:r>
          </a:p>
          <a:p>
            <a:r>
              <a:rPr lang="en-US">
                <a:cs typeface="Calibri"/>
              </a:rPr>
              <a:t>"Trident Documentation" is too vague, these materials center on "how to use" Trident—be more explicit about this</a:t>
            </a:r>
          </a:p>
          <a:p>
            <a:r>
              <a:rPr lang="en-US">
                <a:cs typeface="Calibri"/>
              </a:rPr>
              <a:t>Need to re-think language on how to distinguish between a major outrage vs. issues that may not be a critical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C876C0-6FD4-4DA3-B2FA-A9D72189CFEC}" type="slidenum"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15418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cs typeface="Calibri"/>
              </a:rPr>
              <a:t>Takeaways:</a:t>
            </a:r>
          </a:p>
          <a:p>
            <a:r>
              <a:rPr lang="en-US">
                <a:cs typeface="Calibri"/>
              </a:rPr>
              <a:t>Shift focus to self-service information rather than on where to submit support tickets</a:t>
            </a:r>
          </a:p>
          <a:p>
            <a:r>
              <a:rPr lang="en-US">
                <a:cs typeface="Calibri"/>
              </a:rPr>
              <a:t>Sedate and </a:t>
            </a:r>
            <a:r>
              <a:rPr lang="en-US" err="1">
                <a:cs typeface="Calibri"/>
              </a:rPr>
              <a:t>Huduku</a:t>
            </a:r>
            <a:r>
              <a:rPr lang="en-US">
                <a:cs typeface="Calibri"/>
              </a:rPr>
              <a:t> should be added a CICD tools</a:t>
            </a:r>
          </a:p>
          <a:p>
            <a:r>
              <a:rPr lang="en-US">
                <a:cs typeface="Calibri"/>
              </a:rPr>
              <a:t>Trident related issues get routed through the EA-CICD support team</a:t>
            </a:r>
          </a:p>
          <a:p>
            <a:r>
              <a:rPr lang="en-US">
                <a:cs typeface="Calibri"/>
              </a:rPr>
              <a:t>"Trident Documentation" is too vague, these materials center on "how to use" Trident—be more explicit about this</a:t>
            </a:r>
          </a:p>
          <a:p>
            <a:r>
              <a:rPr lang="en-US">
                <a:cs typeface="Calibri"/>
              </a:rPr>
              <a:t>Need to re-think language on how to distinguish between a major outrage vs. issues that may not be a critical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876C0-6FD4-4DA3-B2FA-A9D72189CFEC}" type="slidenum"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3627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0BA3C-3664-238E-6C1C-63BE37F61D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EBBCE3-B392-5D02-7E3C-D1B5279691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BE844-7EE6-EBBF-6DAA-E4BE78983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DA69A-6637-476B-83B6-D0B50E21B05A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1CA1E0-0170-C804-8C40-EC9B0C06D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CDE41B-1761-2D13-B5E3-FAB950A6D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36218-0116-4DAA-858D-47BBB590C2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601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4C201-C632-4023-71CE-1FC466A1D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2ED9A0-0BC5-F5D7-279B-C8B7E8D823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01808-C675-B999-8A93-8A1CE28B2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DA69A-6637-476B-83B6-D0B50E21B05A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8E0712-27DC-0A5E-1811-A1AD95CFD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9E161-B019-3F33-200A-61DE2E3FC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36218-0116-4DAA-858D-47BBB590C2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066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C1E24-A346-491A-8F02-4CA09ACE5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839A78-2CC3-E5B3-738F-B42F3E7F7C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06E413-13DE-2F74-8DA6-C75388CE7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DA69A-6637-476B-83B6-D0B50E21B05A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B1EA43-8E05-D33B-C4E9-8325135D7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0288A3-16E1-DD83-BB9C-2FB9FAB13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36218-0116-4DAA-858D-47BBB590C2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214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BC3BA-823F-7370-4699-B38D7E499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B08460-480A-3D23-99AA-6B9581A859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2BD2D6-39D1-9584-4674-72C5EE15AA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3AFAB1-D927-0AB4-FBAF-8B1550196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DA69A-6637-476B-83B6-D0B50E21B05A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03FB3F-8EBA-55F9-AAB9-8E30B7CAD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747728-8159-8553-7292-29B65D889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36218-0116-4DAA-858D-47BBB590C2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046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DB978-BD1C-4378-E825-43230D5F9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227B42-A6B8-AAC2-4A95-ED6829947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BD698A-62CA-8087-E4D6-735B1F064B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D6169B-053A-962A-47FE-78F3A47D53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6EA6E7-0A46-A048-D25A-E04BCE7A78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AF57D0-9F3C-7E92-7349-BB7E33A43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DA69A-6637-476B-83B6-D0B50E21B05A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F6C035-6EB7-49B2-68FC-FFDED61DA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372B2A-278B-67FF-F7E4-031A61C27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36218-0116-4DAA-858D-47BBB590C2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33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669F5-A3C3-E822-A8F5-1B2ACAC11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C5DA4B-313E-A074-50E3-44AD5F745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DA69A-6637-476B-83B6-D0B50E21B05A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F752A4-533D-8F30-6289-9312B7DD2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88FBB1-2435-FDF9-1572-DEA5CF515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36218-0116-4DAA-858D-47BBB590C2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2037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021DF6-5777-333E-489B-9C83BF3B0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DA69A-6637-476B-83B6-D0B50E21B05A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0A7E17-EA56-F297-155F-39B7B74F4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F465C4-57B1-18FF-C5B2-D30DEEE08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36218-0116-4DAA-858D-47BBB590C2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27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7D927-89BE-E17A-47F9-7990D5543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2D2C2-6B29-25A2-59B9-4E70563664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D16367-9F2B-7AF0-5BB0-9CD7DA12C0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9892FA-E439-531E-29C9-85A0229A0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DA69A-6637-476B-83B6-D0B50E21B05A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84BC0E-D452-8B3A-06B2-1D2A33407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1C4A5B-E262-874C-AE34-BF87D32A9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36218-0116-4DAA-858D-47BBB590C2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81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676F7-4908-58B6-5D0E-3D163B31C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8CE3F2-8009-B6C2-FF88-1BBF04F7BA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754EBE-8E9C-8ECF-7A5D-B5180E88A3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B81158-0FF8-5A0D-AF86-3E47C1041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DA69A-6637-476B-83B6-D0B50E21B05A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AB1427-2320-7DE4-F5B4-5F09486F1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8F207A-60BF-A086-D888-24F12832F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36218-0116-4DAA-858D-47BBB590C2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210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B45C7-9D24-53BD-2A32-1393116A2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1A11D7-1611-560A-64FA-9A32F011F3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CAC5FF-A1BB-2764-A8A0-9B5DEEA5A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DA69A-6637-476B-83B6-D0B50E21B05A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DB3FD3-2D9B-AAE0-63F8-C2E14A0ED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05A973-0B73-2CDA-7525-467766CB1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36218-0116-4DAA-858D-47BBB590C2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8503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317B80-91E7-19DD-820E-EB7FFD5021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F833F2-9A0B-1329-3D80-4835ACC83D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BB846A-0436-E35D-7FC3-5763F85F9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DA69A-6637-476B-83B6-D0B50E21B05A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077816-B0C5-D345-864B-69E27EBFA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89521C-B642-E104-6CF8-08B3E491E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36218-0116-4DAA-858D-47BBB590C2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976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D1326D-5A30-01D5-2DEB-BF5E6BC15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B3864A-E545-66AB-FD0D-4E66E6AD6B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3CF1F3-4C7E-6D19-2AA8-C1822A74E7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2DA69A-6637-476B-83B6-D0B50E21B05A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92616-142C-051F-2948-60DC7EF86D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2DA686-595B-92CE-5E5D-5F16CD2B99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036218-0116-4DAA-858D-47BBB590C2AC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BED181-F6B4-3555-A3C8-F20B93A10A68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93562" y="6642100"/>
            <a:ext cx="43338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569958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discover.service-now.com/office_hours?id=oh_landing&amp;sys_id=506a2c11dbed609004203b98f49619f7" TargetMode="External"/><Relationship Id="rId13" Type="http://schemas.openxmlformats.org/officeDocument/2006/relationships/hyperlink" Target="https://github.discoverfinancial.com/pages/scm-org/cd-support/sonarqube/sonarqube/" TargetMode="External"/><Relationship Id="rId18" Type="http://schemas.openxmlformats.org/officeDocument/2006/relationships/image" Target="../media/image4.jpeg"/><Relationship Id="rId3" Type="http://schemas.openxmlformats.org/officeDocument/2006/relationships/hyperlink" Target="https://dta.discoverfinancial.com/products/trident/docs/trident/" TargetMode="External"/><Relationship Id="rId7" Type="http://schemas.openxmlformats.org/officeDocument/2006/relationships/hyperlink" Target="https://github.discoverfinancial.com/pages/scm-org/cd-support/jenkins/jenkins/" TargetMode="External"/><Relationship Id="rId12" Type="http://schemas.openxmlformats.org/officeDocument/2006/relationships/hyperlink" Target="https://github.discoverfinancial.com/pages/scm-org/cd-support/gradle/gradle/" TargetMode="External"/><Relationship Id="rId17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2.jpeg"/><Relationship Id="rId20" Type="http://schemas.openxmlformats.org/officeDocument/2006/relationships/image" Target="../media/image6.jpe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discoverfinancial.com/pages/scm-org/cd-support/contactUs/" TargetMode="External"/><Relationship Id="rId11" Type="http://schemas.openxmlformats.org/officeDocument/2006/relationships/hyperlink" Target="https://github.discoverfinancial.com/pages/scm-org/cd-support/selfservice/harnessHelp/" TargetMode="External"/><Relationship Id="rId5" Type="http://schemas.openxmlformats.org/officeDocument/2006/relationships/hyperlink" Target="https://web.yammer.com/main/groups/eyJfdHlwZSI6Ikdyb3VwIiwiaWQiOiIxMTY3MzI3NiJ9/all" TargetMode="External"/><Relationship Id="rId15" Type="http://schemas.openxmlformats.org/officeDocument/2006/relationships/image" Target="../media/image1.jpeg"/><Relationship Id="rId10" Type="http://schemas.openxmlformats.org/officeDocument/2006/relationships/hyperlink" Target="https://github.discoverfinancial.com/pages/scm-org/cd-support/harness/harness/" TargetMode="External"/><Relationship Id="rId19" Type="http://schemas.openxmlformats.org/officeDocument/2006/relationships/image" Target="../media/image5.jpeg"/><Relationship Id="rId4" Type="http://schemas.openxmlformats.org/officeDocument/2006/relationships/hyperlink" Target="https://discover.service-now.com/office_hours?id=oh_landing&amp;sys_id=8c826f521b8f0990d89762007e4bcb2f" TargetMode="External"/><Relationship Id="rId9" Type="http://schemas.openxmlformats.org/officeDocument/2006/relationships/hyperlink" Target="https://github.discoverfinancial.com/pages/scm-org/cd-support/selfservice/jenkinsHelp/" TargetMode="External"/><Relationship Id="rId14" Type="http://schemas.openxmlformats.org/officeDocument/2006/relationships/hyperlink" Target="https://github.discoverfinancial.com/pages/scm-org/cd-support/selfservice/sonarqubeHelp/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discoverfinancial.com/pages/scm-org/cd-support/contactUs/" TargetMode="External"/><Relationship Id="rId13" Type="http://schemas.openxmlformats.org/officeDocument/2006/relationships/hyperlink" Target="https://github.discoverfinancial.com/pages/scm-org/cd-support/github/sedated/" TargetMode="External"/><Relationship Id="rId18" Type="http://schemas.openxmlformats.org/officeDocument/2006/relationships/hyperlink" Target="https://github.discoverfinancial.com/paaseng-org/dfs-ocp-artifactory/blob/master/SUPPORT_GUIDE.md" TargetMode="External"/><Relationship Id="rId3" Type="http://schemas.openxmlformats.org/officeDocument/2006/relationships/hyperlink" Target="https://github.discoverfinancial.com/pages/scm-org/cd-support/nexus/nexus/" TargetMode="External"/><Relationship Id="rId21" Type="http://schemas.openxmlformats.org/officeDocument/2006/relationships/image" Target="../media/image3.jpeg"/><Relationship Id="rId7" Type="http://schemas.openxmlformats.org/officeDocument/2006/relationships/hyperlink" Target="https://github.discoverfinancial.com/pages/scm-org/cd-support/selfservice/nexusHelp/" TargetMode="External"/><Relationship Id="rId12" Type="http://schemas.openxmlformats.org/officeDocument/2006/relationships/hyperlink" Target="https://github.discoverfinancial.com/pages/scm-org/cd-support/selfservice/githubHelp/" TargetMode="External"/><Relationship Id="rId17" Type="http://schemas.openxmlformats.org/officeDocument/2006/relationships/hyperlink" Target="https://tupperware.discoverfinancial.com/#/resources/artifactory" TargetMode="External"/><Relationship Id="rId2" Type="http://schemas.openxmlformats.org/officeDocument/2006/relationships/notesSlide" Target="../notesSlides/notesSlide2.xml"/><Relationship Id="rId16" Type="http://schemas.openxmlformats.org/officeDocument/2006/relationships/hyperlink" Target="https://github.discoverfinancial.com/pages/scm-org/cd-support/github/huduku/#faq" TargetMode="External"/><Relationship Id="rId20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iscover.service-now.com/office_hours?id=oh_landing&amp;sys_id=8c826f521b8f0990d89762007e4bcb2f" TargetMode="External"/><Relationship Id="rId11" Type="http://schemas.openxmlformats.org/officeDocument/2006/relationships/hyperlink" Target="https://github.discoverfinancial.com/pages/scm-org/cd-support/github/github/" TargetMode="External"/><Relationship Id="rId24" Type="http://schemas.openxmlformats.org/officeDocument/2006/relationships/image" Target="../media/image6.jpeg"/><Relationship Id="rId5" Type="http://schemas.openxmlformats.org/officeDocument/2006/relationships/hyperlink" Target="https://discover.service-now.com/office_hours?id=oh_landing&amp;sys_id=506a2c11dbed609004203b98f49619f7" TargetMode="External"/><Relationship Id="rId15" Type="http://schemas.openxmlformats.org/officeDocument/2006/relationships/hyperlink" Target="https://github.discoverfinancial.com/pages/scm-org/cd-support/github/huduku/" TargetMode="External"/><Relationship Id="rId23" Type="http://schemas.openxmlformats.org/officeDocument/2006/relationships/image" Target="../media/image5.jpeg"/><Relationship Id="rId10" Type="http://schemas.openxmlformats.org/officeDocument/2006/relationships/hyperlink" Target="https://github.discoverfinancial.com/pages/scm-org/cd-support/selfservice/nexusiqHelp/" TargetMode="External"/><Relationship Id="rId19" Type="http://schemas.openxmlformats.org/officeDocument/2006/relationships/image" Target="../media/image1.jpeg"/><Relationship Id="rId4" Type="http://schemas.openxmlformats.org/officeDocument/2006/relationships/hyperlink" Target="https://web.yammer.com/main/groups/eyJfdHlwZSI6Ikdyb3VwIiwiaWQiOiIxMTY3MzI3NiJ9/all" TargetMode="External"/><Relationship Id="rId9" Type="http://schemas.openxmlformats.org/officeDocument/2006/relationships/hyperlink" Target="https://github.discoverfinancial.com/pages/scm-org/cd-support/nexus/nexusiq/" TargetMode="External"/><Relationship Id="rId14" Type="http://schemas.openxmlformats.org/officeDocument/2006/relationships/hyperlink" Target="https://github.discoverfinancial.com/pages/scm-org/cd-support/selfservice/githubHelp/#sedated-is-blocking-my-push" TargetMode="External"/><Relationship Id="rId22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discoverfinancial.com/paaseng-org/dfs-openshift-support/issues?q=is%3Aissue+is%3Aclosed" TargetMode="External"/><Relationship Id="rId13" Type="http://schemas.openxmlformats.org/officeDocument/2006/relationships/hyperlink" Target="https://teams.microsoft.com/l/channel/19%3af8c373ab7a3c4fff8e35aba004b83b76%40thread.skype/PCF%2520Help?groupId=e0ea2fa1-0cf2-417d-babe-a2de0453332a&amp;tenantId=f3f068cf-080c-4824-a912-f8c4633bd454" TargetMode="External"/><Relationship Id="rId18" Type="http://schemas.openxmlformats.org/officeDocument/2006/relationships/image" Target="../media/image3.jpeg"/><Relationship Id="rId3" Type="http://schemas.openxmlformats.org/officeDocument/2006/relationships/hyperlink" Target="https://tupperware.discoverfinancial.com/" TargetMode="External"/><Relationship Id="rId21" Type="http://schemas.openxmlformats.org/officeDocument/2006/relationships/image" Target="../media/image7.jpeg"/><Relationship Id="rId7" Type="http://schemas.openxmlformats.org/officeDocument/2006/relationships/hyperlink" Target="https://github.discoverfinancial.com/paaseng-org/dfs-openshift-support/issues?q=is%3Aopen+is%3Aissue" TargetMode="External"/><Relationship Id="rId12" Type="http://schemas.openxmlformats.org/officeDocument/2006/relationships/hyperlink" Target="https://teams.microsoft.com/l/channel/19%3Af8c373ab7a3c4fff8e35aba004b83b76%40thread.skype/tab%3A%3Abda457e3-ea9d-4e76-9000-39414763005a?groupId=e0ea2fa1-0cf2-417d-babe-a2de0453332a&amp;tenantId=f3f068cf-080c-4824-a912-f8c4633bd454" TargetMode="External"/><Relationship Id="rId17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.jpeg"/><Relationship Id="rId20" Type="http://schemas.openxmlformats.org/officeDocument/2006/relationships/image" Target="../media/image6.jpeg"/><Relationship Id="rId1" Type="http://schemas.openxmlformats.org/officeDocument/2006/relationships/slideLayout" Target="../slideLayouts/slideLayout1.xml"/><Relationship Id="rId6" Type="http://schemas.openxmlformats.org/officeDocument/2006/relationships/hyperlink" Target="discover.service-now.com/office_hours?id=oh_landing&amp;sys_id=08040b5e1b36d0d06b16628a2d4bcba1" TargetMode="External"/><Relationship Id="rId11" Type="http://schemas.openxmlformats.org/officeDocument/2006/relationships/hyperlink" Target="https://github.discoverfinancial.com/paaseng-org/dfs-openshift-support/blob/master/README.md" TargetMode="External"/><Relationship Id="rId5" Type="http://schemas.openxmlformats.org/officeDocument/2006/relationships/hyperlink" Target="https://discover.service-now.com/office_hours?id=oh_landing&amp;sys_id=08040b5e1b36d0d06b16628a2d4bcba1" TargetMode="External"/><Relationship Id="rId15" Type="http://schemas.openxmlformats.org/officeDocument/2006/relationships/hyperlink" Target="https://github.discoverfinancial.com/cloud-build-org/cas-pcf-documentation/blob/master/support/support-slas.md" TargetMode="External"/><Relationship Id="rId10" Type="http://schemas.openxmlformats.org/officeDocument/2006/relationships/hyperlink" Target="https://github.discoverfinancial.com/apimanagement-org/api-management/issues?q=is%3Aissue+is%3Aclosed" TargetMode="External"/><Relationship Id="rId19" Type="http://schemas.openxmlformats.org/officeDocument/2006/relationships/image" Target="../media/image4.jpeg"/><Relationship Id="rId4" Type="http://schemas.openxmlformats.org/officeDocument/2006/relationships/hyperlink" Target="https://teams.microsoft.com/l/channel/19%3a2728cdd8f25d4147ae2c4345fc3b31c8%40thread.skype/OCP%2520Help%2520-%2520Community%2520Driven?groupId=e0ea2fa1-0cf2-417d-babe-a2de0453332a&amp;tenantId=f3f068cf-080c-4824-a912-f8c4633bd454" TargetMode="External"/><Relationship Id="rId9" Type="http://schemas.openxmlformats.org/officeDocument/2006/relationships/hyperlink" Target="https://discover.service-now.com/sp?id=create_incident" TargetMode="External"/><Relationship Id="rId14" Type="http://schemas.openxmlformats.org/officeDocument/2006/relationships/hyperlink" Target="https://github.discoverfinancial.com/cloud-build-org/cas-pcf-documentation/tree/master/support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discover.service-now.com/sp?id=sc_cat_item&amp;sys_id=8b06dd0213276a4460ee30128144b0d9&amp;sysparm_category=4a9f74122b9b6500954605b219da15d8" TargetMode="External"/><Relationship Id="rId13" Type="http://schemas.openxmlformats.org/officeDocument/2006/relationships/hyperlink" Target="https://github.discoverfinancial.com/pages/cloaksuite-org/Cloak-Suite-Mkdocs/Boarding/gettingStarted/" TargetMode="External"/><Relationship Id="rId18" Type="http://schemas.openxmlformats.org/officeDocument/2006/relationships/hyperlink" Target="https://github.discoverfinancial.com/cloaksuite-org/CloakSuite/issues" TargetMode="External"/><Relationship Id="rId3" Type="http://schemas.openxmlformats.org/officeDocument/2006/relationships/hyperlink" Target="https://github.discoverfinancial.com/pages/entarch-org/hashicorp-vault-support/vault_abt.html" TargetMode="External"/><Relationship Id="rId21" Type="http://schemas.openxmlformats.org/officeDocument/2006/relationships/image" Target="../media/image3.jpeg"/><Relationship Id="rId7" Type="http://schemas.openxmlformats.org/officeDocument/2006/relationships/hyperlink" Target="https://discover.service-now.com/sp?id=create_incident" TargetMode="External"/><Relationship Id="rId12" Type="http://schemas.openxmlformats.org/officeDocument/2006/relationships/hyperlink" Target="https://discoverfinancial.sharepoint.com/sites/DLife/workresources/groups/misc/ppmaimonboardingforum/Documents/5.%20FAQ/Troubleshooting%20Guide%20for%20Common%20Errors.docx?d=w40d6c4ade9ec44e489ebcf3d9f92a79a" TargetMode="External"/><Relationship Id="rId17" Type="http://schemas.openxmlformats.org/officeDocument/2006/relationships/hyperlink" Target="https://github.discoverfinancial.com/cloaksuite-org/CloakSuite/issues?q=is%3Aissue+is%3Aclosed" TargetMode="External"/><Relationship Id="rId25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6" Type="http://schemas.openxmlformats.org/officeDocument/2006/relationships/hyperlink" Target="https://discover.service-now.com/office_hours?id=oh_landing&amp;sys_id=067eb179dbccf410d199278115961917" TargetMode="External"/><Relationship Id="rId20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discoverfinancial.com/pages/entarch-org/hashicorp-vault-support/troubleshooting_guide/" TargetMode="External"/><Relationship Id="rId11" Type="http://schemas.openxmlformats.org/officeDocument/2006/relationships/hyperlink" Target="discover.service-now.com/office_hours?id=oh_landing&amp;sys_id=08040b5e1b36d0d06b16628a2d4bcba1" TargetMode="External"/><Relationship Id="rId24" Type="http://schemas.openxmlformats.org/officeDocument/2006/relationships/image" Target="../media/image7.jpeg"/><Relationship Id="rId5" Type="http://schemas.openxmlformats.org/officeDocument/2006/relationships/hyperlink" Target="https://discover.service-now.com/office_hours?id=oh_landing&amp;sys_id=08040b5e1b36d0d06b16628a2d4bcba1" TargetMode="External"/><Relationship Id="rId15" Type="http://schemas.openxmlformats.org/officeDocument/2006/relationships/hyperlink" Target="https://web.yammer.com/main/org/discoverfinancial.com/groups/eyJfdHlwZSI6Ikdyb3VwIiwiaWQiOiIxMTcxNDI0NiJ9/all" TargetMode="External"/><Relationship Id="rId23" Type="http://schemas.openxmlformats.org/officeDocument/2006/relationships/image" Target="../media/image6.jpeg"/><Relationship Id="rId10" Type="http://schemas.openxmlformats.org/officeDocument/2006/relationships/hyperlink" Target="https://discoverfinancial.sharepoint.com/sites/DLife/workresources/groups/askaboutaccess/Documents/PPM%20User%20Guide.pdf?OR=Teams-HL&amp;CT=1656025352961&amp;clickparams=eyJBcHBOYW1lIjoiVGVhbXMtRGVza3RvcCIsIkFwcFZlcnNpb24iOiIyNy8yMjA2MDYxNDgwNSIsIkhhc0ZlZGVyYXRlZFVzZXIiOmZhbHNlfQ%3D%3D#search=ppm" TargetMode="External"/><Relationship Id="rId19" Type="http://schemas.openxmlformats.org/officeDocument/2006/relationships/image" Target="../media/image1.jpeg"/><Relationship Id="rId4" Type="http://schemas.openxmlformats.org/officeDocument/2006/relationships/hyperlink" Target="https://teams.microsoft.com/l/channel/19%3ab57fe44637cd4c138dba68d4db2611cb%40thread.skype/General?groupId=fc925652-8229-4665-98e8-e7547c8d3bc8&amp;tenantId=f3f068cf-080c-4824-a912-f8c4633bd454" TargetMode="External"/><Relationship Id="rId9" Type="http://schemas.openxmlformats.org/officeDocument/2006/relationships/hyperlink" Target="https://github.discoverfinancial.com/pages/secrets-storage-org/CyberArk-AIM-Documentation/" TargetMode="External"/><Relationship Id="rId14" Type="http://schemas.openxmlformats.org/officeDocument/2006/relationships/hyperlink" Target="https://github.discoverfinancial.com/pages/cloaksuite-org/Cloak-Suite-Mkdocs/Links/links/" TargetMode="External"/><Relationship Id="rId22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discoverfinancial.com/apimanagement-org/api-management/issues?q=is%3Aopen+is%3Aissue" TargetMode="External"/><Relationship Id="rId13" Type="http://schemas.openxmlformats.org/officeDocument/2006/relationships/image" Target="../media/image4.jpeg"/><Relationship Id="rId3" Type="http://schemas.openxmlformats.org/officeDocument/2006/relationships/hyperlink" Target="https://dta.discoverfinancial.com/communities/api-guild/internal-apis" TargetMode="External"/><Relationship Id="rId7" Type="http://schemas.openxmlformats.org/officeDocument/2006/relationships/hyperlink" Target="https://github.discoverfinancial.com/apimanagement-org/api-management/issues?q=is%3Aissue+is%3Aclosed" TargetMode="External"/><Relationship Id="rId12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eb.yammer.com/main/org/discoverfinancial.com/groups/eyJfdHlwZSI6Ikdyb3VwIiwiaWQiOiIxNDAyNzA4MyJ9/all" TargetMode="External"/><Relationship Id="rId11" Type="http://schemas.openxmlformats.org/officeDocument/2006/relationships/image" Target="../media/image2.jpeg"/><Relationship Id="rId5" Type="http://schemas.openxmlformats.org/officeDocument/2006/relationships/hyperlink" Target="https://discover.service-now.com/office_hours?id=oh_landing&amp;sys_id=8c826f521b8f0990d89762007e4bcb2f" TargetMode="External"/><Relationship Id="rId15" Type="http://schemas.openxmlformats.org/officeDocument/2006/relationships/image" Target="../media/image6.jpeg"/><Relationship Id="rId10" Type="http://schemas.openxmlformats.org/officeDocument/2006/relationships/image" Target="../media/image1.jpeg"/><Relationship Id="rId4" Type="http://schemas.openxmlformats.org/officeDocument/2006/relationships/hyperlink" Target="https://teams.microsoft.com/l/channel/19%3a4c666ba0f2684957afb4041b25142e45%40thread.tacv2/General?groupId=58882020-0bb2-42bc-a2fe-6dd420bebc25&amp;tenantId=f3f068cf-080c-4824-a912-f8c4633bd454" TargetMode="External"/><Relationship Id="rId9" Type="http://schemas.openxmlformats.org/officeDocument/2006/relationships/hyperlink" Target="https://dta.discoverfinancial.com/communities/api-guild/external-apis" TargetMode="External"/><Relationship Id="rId1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discover.service-now.com/ess/submit_an_incident.do" TargetMode="External"/><Relationship Id="rId13" Type="http://schemas.openxmlformats.org/officeDocument/2006/relationships/hyperlink" Target="https://github.discoverfinancial.com/pages/scm-org/cd-support/selfservice/jenkinsHelp/" TargetMode="External"/><Relationship Id="rId18" Type="http://schemas.openxmlformats.org/officeDocument/2006/relationships/hyperlink" Target="https://github.discoverfinancial.com/pages/scm-org/cd-support/selfservice/sonarqubeHelp/" TargetMode="External"/><Relationship Id="rId3" Type="http://schemas.microsoft.com/office/2018/10/relationships/comments" Target="../comments/modernComment_100_2321B3E3.xml"/><Relationship Id="rId7" Type="http://schemas.openxmlformats.org/officeDocument/2006/relationships/hyperlink" Target="https://discover.service-now.com/sp?id=create_incident" TargetMode="External"/><Relationship Id="rId12" Type="http://schemas.openxmlformats.org/officeDocument/2006/relationships/hyperlink" Target="https://github.discoverfinancial.com/pages/scm-org/cd-support/jenkins/jenkins/" TargetMode="External"/><Relationship Id="rId17" Type="http://schemas.openxmlformats.org/officeDocument/2006/relationships/hyperlink" Target="https://github.discoverfinancial.com/pages/scm-org/cd-support/sonarqube/sonarqube/" TargetMode="External"/><Relationship Id="rId2" Type="http://schemas.openxmlformats.org/officeDocument/2006/relationships/notesSlide" Target="../notesSlides/notesSlide6.xml"/><Relationship Id="rId16" Type="http://schemas.openxmlformats.org/officeDocument/2006/relationships/hyperlink" Target="https://github.discoverfinancial.com/pages/scm-org/cd-support/gradle/gradle/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discoverfinancial.com/scm-org/cd-support/issues" TargetMode="External"/><Relationship Id="rId11" Type="http://schemas.openxmlformats.org/officeDocument/2006/relationships/hyperlink" Target="https://discover.service-now.com/office_hours?id=oh_landing&amp;sys_id=506a2c11dbed609004203b98f49619f7" TargetMode="External"/><Relationship Id="rId5" Type="http://schemas.openxmlformats.org/officeDocument/2006/relationships/hyperlink" Target="https://discover.service-now.com/office_hours?id=oh_landing&amp;sys_id=8c826f521b8f0990d89762007e4bcb2f" TargetMode="External"/><Relationship Id="rId15" Type="http://schemas.openxmlformats.org/officeDocument/2006/relationships/hyperlink" Target="https://github.discoverfinancial.com/pages/scm-org/cd-support/selfservice/harnessHelp/" TargetMode="External"/><Relationship Id="rId10" Type="http://schemas.openxmlformats.org/officeDocument/2006/relationships/hyperlink" Target="https://dta.discoverfinancial.com/products/trident/docs/trident/" TargetMode="External"/><Relationship Id="rId4" Type="http://schemas.openxmlformats.org/officeDocument/2006/relationships/hyperlink" Target="https://web.yammer.com/main/groups/eyJfdHlwZSI6Ikdyb3VwIiwiaWQiOiIxMTY3MzI3NiJ9/all" TargetMode="External"/><Relationship Id="rId9" Type="http://schemas.openxmlformats.org/officeDocument/2006/relationships/hyperlink" Target="mailto:cdi@discover.com" TargetMode="External"/><Relationship Id="rId14" Type="http://schemas.openxmlformats.org/officeDocument/2006/relationships/hyperlink" Target="https://github.discoverfinancial.com/pages/scm-org/cd-support/harness/harness/" TargetMode="Externa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discover.service-now.com/office_hours?id=oh_landing&amp;sys_id=506a2c11dbed609004203b98f49619f7" TargetMode="External"/><Relationship Id="rId13" Type="http://schemas.openxmlformats.org/officeDocument/2006/relationships/hyperlink" Target="https://tupperware.discoverfinancial.com/#/resources/artifactory" TargetMode="External"/><Relationship Id="rId3" Type="http://schemas.openxmlformats.org/officeDocument/2006/relationships/hyperlink" Target="https://github.discoverfinancial.com/scm-org/cd-support/issues" TargetMode="External"/><Relationship Id="rId7" Type="http://schemas.openxmlformats.org/officeDocument/2006/relationships/hyperlink" Target="https://github.discoverfinancial.com/pages/scm-org/cd-support/selfservice/nexusHelp/" TargetMode="External"/><Relationship Id="rId12" Type="http://schemas.openxmlformats.org/officeDocument/2006/relationships/hyperlink" Target="https://github.discoverfinancial.com/pages/scm-org/cd-support/selfservice/githubHelp/" TargetMode="External"/><Relationship Id="rId2" Type="http://schemas.openxmlformats.org/officeDocument/2006/relationships/hyperlink" Target="https://web.yammer.com/main/groups/eyJfdHlwZSI6Ikdyb3VwIiwiaWQiOiIxMTY3MzI3NiJ9/all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discoverfinancial.com/pages/scm-org/cd-support/nexus/nexus/" TargetMode="External"/><Relationship Id="rId11" Type="http://schemas.openxmlformats.org/officeDocument/2006/relationships/hyperlink" Target="https://github.discoverfinancial.com/pages/scm-org/cd-support/github/github/" TargetMode="External"/><Relationship Id="rId5" Type="http://schemas.openxmlformats.org/officeDocument/2006/relationships/hyperlink" Target="mailto:cdi@discover.com" TargetMode="External"/><Relationship Id="rId10" Type="http://schemas.openxmlformats.org/officeDocument/2006/relationships/hyperlink" Target="https://github.discoverfinancial.com/pages/scm-org/cd-support/nexus/nexusiq/" TargetMode="External"/><Relationship Id="rId4" Type="http://schemas.openxmlformats.org/officeDocument/2006/relationships/hyperlink" Target="https://discover.service-now.com/sp?id=create_incident" TargetMode="External"/><Relationship Id="rId9" Type="http://schemas.openxmlformats.org/officeDocument/2006/relationships/hyperlink" Target="https://github.discoverfinancial.com/pages/scm-org/cd-support/selfservice/nexusiqHelp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1F57DCF3-4919-AECA-12A9-F1DCC68A09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4977748"/>
              </p:ext>
            </p:extLst>
          </p:nvPr>
        </p:nvGraphicFramePr>
        <p:xfrm>
          <a:off x="597540" y="556279"/>
          <a:ext cx="11394558" cy="61400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6243">
                  <a:extLst>
                    <a:ext uri="{9D8B030D-6E8A-4147-A177-3AD203B41FA5}">
                      <a16:colId xmlns:a16="http://schemas.microsoft.com/office/drawing/2014/main" val="513794599"/>
                    </a:ext>
                  </a:extLst>
                </a:gridCol>
                <a:gridCol w="2278911">
                  <a:extLst>
                    <a:ext uri="{9D8B030D-6E8A-4147-A177-3AD203B41FA5}">
                      <a16:colId xmlns:a16="http://schemas.microsoft.com/office/drawing/2014/main" val="1925627750"/>
                    </a:ext>
                  </a:extLst>
                </a:gridCol>
                <a:gridCol w="1907351">
                  <a:extLst>
                    <a:ext uri="{9D8B030D-6E8A-4147-A177-3AD203B41FA5}">
                      <a16:colId xmlns:a16="http://schemas.microsoft.com/office/drawing/2014/main" val="3962688613"/>
                    </a:ext>
                  </a:extLst>
                </a:gridCol>
                <a:gridCol w="2229899">
                  <a:extLst>
                    <a:ext uri="{9D8B030D-6E8A-4147-A177-3AD203B41FA5}">
                      <a16:colId xmlns:a16="http://schemas.microsoft.com/office/drawing/2014/main" val="3837542045"/>
                    </a:ext>
                  </a:extLst>
                </a:gridCol>
                <a:gridCol w="1892411">
                  <a:extLst>
                    <a:ext uri="{9D8B030D-6E8A-4147-A177-3AD203B41FA5}">
                      <a16:colId xmlns:a16="http://schemas.microsoft.com/office/drawing/2014/main" val="843884855"/>
                    </a:ext>
                  </a:extLst>
                </a:gridCol>
                <a:gridCol w="1599743">
                  <a:extLst>
                    <a:ext uri="{9D8B030D-6E8A-4147-A177-3AD203B41FA5}">
                      <a16:colId xmlns:a16="http://schemas.microsoft.com/office/drawing/2014/main" val="1017683039"/>
                    </a:ext>
                  </a:extLst>
                </a:gridCol>
              </a:tblGrid>
              <a:tr h="1112845"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Discover Sans" pitchFamily="2" charset="0"/>
                          <a:ea typeface="Discover Sans" pitchFamily="2" charset="0"/>
                        </a:rPr>
                        <a:t>System / Tool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Discover Sans" pitchFamily="2" charset="0"/>
                          <a:ea typeface="Discover Sans" pitchFamily="2" charset="0"/>
                        </a:rPr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900">
                        <a:solidFill>
                          <a:schemeClr val="tx1"/>
                        </a:solidFill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lvl="0" algn="ctr">
                        <a:buNone/>
                      </a:pPr>
                      <a:endParaRPr lang="en-US" sz="900">
                        <a:solidFill>
                          <a:schemeClr val="tx1"/>
                        </a:solidFill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lvl="0" algn="ctr">
                        <a:buNone/>
                      </a:pPr>
                      <a:endParaRPr lang="en-US" sz="900">
                        <a:solidFill>
                          <a:schemeClr val="tx1"/>
                        </a:solidFill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lvl="0" algn="ctr">
                        <a:buNone/>
                      </a:pPr>
                      <a:endParaRPr lang="en-US" sz="900">
                        <a:solidFill>
                          <a:schemeClr val="tx1"/>
                        </a:solidFill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lvl="0" algn="ctr">
                        <a:buNone/>
                      </a:pPr>
                      <a:endParaRPr lang="en-US" sz="900">
                        <a:solidFill>
                          <a:schemeClr val="tx1"/>
                        </a:solidFill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900">
                          <a:solidFill>
                            <a:schemeClr val="tx1"/>
                          </a:solidFill>
                          <a:latin typeface="Discover Sans"/>
                          <a:ea typeface="Discover Sans" pitchFamily="2" charset="0"/>
                        </a:rPr>
                        <a:t>General Information &amp; Overviews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900">
                        <a:solidFill>
                          <a:schemeClr val="tx1"/>
                        </a:solidFill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lvl="0" algn="ctr">
                        <a:buNone/>
                      </a:pPr>
                      <a:endParaRPr lang="en-US" sz="900">
                        <a:solidFill>
                          <a:schemeClr val="tx1"/>
                        </a:solidFill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lvl="0" algn="ctr">
                        <a:buNone/>
                      </a:pPr>
                      <a:endParaRPr lang="en-US" sz="900">
                        <a:solidFill>
                          <a:schemeClr val="tx1"/>
                        </a:solidFill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lvl="0" algn="ctr">
                        <a:buNone/>
                      </a:pPr>
                      <a:endParaRPr lang="en-US" sz="900">
                        <a:solidFill>
                          <a:schemeClr val="tx1"/>
                        </a:solidFill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lvl="0" algn="ctr">
                        <a:buNone/>
                      </a:pPr>
                      <a:endParaRPr lang="en-US" sz="900">
                        <a:solidFill>
                          <a:schemeClr val="tx1"/>
                        </a:solidFill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900">
                          <a:solidFill>
                            <a:schemeClr val="tx1"/>
                          </a:solidFill>
                          <a:latin typeface="Discover Sans" pitchFamily="2" charset="0"/>
                          <a:ea typeface="Discover Sans" pitchFamily="2" charset="0"/>
                        </a:rPr>
                        <a:t>I need to engage on a general question</a:t>
                      </a:r>
                      <a:endParaRPr lang="en-US" sz="900">
                        <a:latin typeface="Discover Sans" pitchFamily="2" charset="0"/>
                        <a:ea typeface="Discover Sans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900">
                        <a:solidFill>
                          <a:schemeClr val="tx1"/>
                        </a:solidFill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lvl="0" algn="ctr">
                        <a:buNone/>
                      </a:pPr>
                      <a:endParaRPr lang="en-US" sz="900">
                        <a:solidFill>
                          <a:schemeClr val="tx1"/>
                        </a:solidFill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lvl="0" algn="ctr">
                        <a:buNone/>
                      </a:pPr>
                      <a:endParaRPr lang="en-US" sz="900">
                        <a:solidFill>
                          <a:schemeClr val="tx1"/>
                        </a:solidFill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lvl="0" algn="ctr">
                        <a:buNone/>
                      </a:pPr>
                      <a:endParaRPr lang="en-US" sz="900">
                        <a:solidFill>
                          <a:schemeClr val="tx1"/>
                        </a:solidFill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lvl="0" algn="ctr">
                        <a:buNone/>
                      </a:pPr>
                      <a:endParaRPr lang="en-US" sz="900">
                        <a:solidFill>
                          <a:schemeClr val="tx1"/>
                        </a:solidFill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900">
                          <a:solidFill>
                            <a:schemeClr val="tx1"/>
                          </a:solidFill>
                          <a:latin typeface="Discover Sans" pitchFamily="2" charset="0"/>
                          <a:ea typeface="Discover Sans" pitchFamily="2" charset="0"/>
                        </a:rPr>
                        <a:t>I need prior solutions or support resources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>
                        <a:solidFill>
                          <a:schemeClr val="tx1"/>
                        </a:solidFill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algn="ctr"/>
                      <a:endParaRPr lang="en-US" sz="900">
                        <a:solidFill>
                          <a:schemeClr val="tx1"/>
                        </a:solidFill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algn="ctr"/>
                      <a:endParaRPr lang="en-US" sz="900">
                        <a:solidFill>
                          <a:schemeClr val="tx1"/>
                        </a:solidFill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algn="ctr"/>
                      <a:endParaRPr lang="en-US" sz="900">
                        <a:solidFill>
                          <a:schemeClr val="tx1"/>
                        </a:solidFill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algn="ctr"/>
                      <a:endParaRPr lang="en-US" sz="900">
                        <a:solidFill>
                          <a:schemeClr val="tx1"/>
                        </a:solidFill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Discover Sans" pitchFamily="2" charset="0"/>
                          <a:ea typeface="Discover Sans" pitchFamily="2" charset="0"/>
                        </a:rPr>
                        <a:t>Support Group 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1637515"/>
                  </a:ext>
                </a:extLst>
              </a:tr>
              <a:tr h="913450"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latin typeface="Discover Sans" pitchFamily="2" charset="0"/>
                          <a:ea typeface="Discover Sans" pitchFamily="2" charset="0"/>
                        </a:rPr>
                        <a:t>Trident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>
                          <a:latin typeface="Discover Sans"/>
                          <a:ea typeface="Discover Sans" pitchFamily="2" charset="0"/>
                        </a:rPr>
                        <a:t>Discover product for automating the continuous delivery and continuous integration process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900">
                          <a:latin typeface="Discover Sans"/>
                          <a:ea typeface="Discover Sans" pitchFamily="2" charset="0"/>
                          <a:hlinkClick r:id="rId3"/>
                        </a:rPr>
                        <a:t>Trident Overview</a:t>
                      </a:r>
                      <a:endParaRPr lang="en-US" sz="900">
                        <a:latin typeface="Discover Sans"/>
                        <a:ea typeface="Discover Sans" pitchFamily="2" charset="0"/>
                      </a:endParaRPr>
                    </a:p>
                    <a:p>
                      <a:pPr marL="0" lvl="0" indent="0" algn="l">
                        <a:buNone/>
                      </a:pPr>
                      <a:endParaRPr lang="en-US" sz="900">
                        <a:latin typeface="Discover Sans" pitchFamily="2" charset="0"/>
                        <a:ea typeface="Discover Sans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286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>
                          <a:latin typeface="Discover Sans"/>
                          <a:ea typeface="Discover Sans" pitchFamily="2" charset="0"/>
                          <a:hlinkClick r:id="rId4"/>
                        </a:rPr>
                        <a:t>Trident Office Hours</a:t>
                      </a:r>
                      <a:endParaRPr lang="en-US" sz="900">
                        <a:latin typeface="Discover Sans"/>
                        <a:ea typeface="Discover Sans" pitchFamily="2" charset="0"/>
                      </a:endParaRPr>
                    </a:p>
                    <a:p>
                      <a:pPr marL="457200" marR="0" lvl="1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endParaRPr lang="en-US" sz="900">
                        <a:latin typeface="Discover Sans" pitchFamily="2" charset="0"/>
                        <a:ea typeface="Discover Sans" pitchFamily="2" charset="0"/>
                        <a:hlinkClick r:id="rId5"/>
                      </a:endParaRPr>
                    </a:p>
                    <a:p>
                      <a:pPr marL="628650" marR="0" lvl="1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>
                          <a:latin typeface="Discover Sans"/>
                          <a:ea typeface="Discover Sans" pitchFamily="2" charset="0"/>
                          <a:hlinkClick r:id="rId5"/>
                        </a:rPr>
                        <a:t>Continuous Delivery Yammer Group</a:t>
                      </a:r>
                      <a:endParaRPr lang="en-US" sz="900">
                        <a:latin typeface="Discover Sans"/>
                        <a:ea typeface="Discover Sans" pitchFamily="2" charset="0"/>
                      </a:endParaRPr>
                    </a:p>
                    <a:p>
                      <a:pPr marL="0" lvl="0" indent="0">
                        <a:buFont typeface="Arial" panose="020B0604020202020204" pitchFamily="34" charset="0"/>
                        <a:buNone/>
                      </a:pPr>
                      <a:endParaRPr lang="en-US" sz="900">
                        <a:latin typeface="Discover Sans" pitchFamily="2" charset="0"/>
                        <a:ea typeface="Discover Sans" pitchFamily="2" charset="0"/>
                        <a:hlinkClick r:id="rId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900">
                          <a:latin typeface="Discover Sans"/>
                          <a:ea typeface="Discover Sans" pitchFamily="2" charset="0"/>
                          <a:hlinkClick r:id="rId3"/>
                        </a:rPr>
                        <a:t>Trident Onboarding, Adoption and FAQs</a:t>
                      </a:r>
                      <a:endParaRPr lang="en-US" sz="900">
                        <a:latin typeface="Discover Sans"/>
                        <a:ea typeface="Discover Sans" pitchFamily="2" charset="0"/>
                      </a:endParaRPr>
                    </a:p>
                    <a:p>
                      <a:pPr marL="0" lvl="0" indent="0" algn="l">
                        <a:buNone/>
                      </a:pPr>
                      <a:endParaRPr lang="en-US" sz="900">
                        <a:latin typeface="Discover Sans" pitchFamily="2" charset="0"/>
                        <a:ea typeface="Discover Sans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5">
                  <a:txBody>
                    <a:bodyPr/>
                    <a:lstStyle/>
                    <a:p>
                      <a:r>
                        <a:rPr lang="en-US" sz="900" b="1">
                          <a:latin typeface="Discover Sans" pitchFamily="2" charset="0"/>
                          <a:ea typeface="Discover Sans" pitchFamily="2" charset="0"/>
                        </a:rPr>
                        <a:t>CICD Support</a:t>
                      </a:r>
                      <a:r>
                        <a:rPr lang="en-US" sz="900">
                          <a:latin typeface="Discover Sans" pitchFamily="2" charset="0"/>
                          <a:ea typeface="Discover Sans" pitchFamily="2" charset="0"/>
                        </a:rPr>
                        <a:t>: </a:t>
                      </a:r>
                      <a:r>
                        <a:rPr lang="en-US" sz="900">
                          <a:latin typeface="Discover Sans" pitchFamily="2" charset="0"/>
                          <a:ea typeface="Discover Sans" pitchFamily="2" charset="0"/>
                          <a:hlinkClick r:id="rId6"/>
                        </a:rPr>
                        <a:t>Contact Us </a:t>
                      </a:r>
                      <a:r>
                        <a:rPr lang="en-US" sz="900">
                          <a:latin typeface="Discover Sans" pitchFamily="2" charset="0"/>
                          <a:ea typeface="Discover Sans" pitchFamily="2" charset="0"/>
                        </a:rPr>
                        <a:t>for further handling of other non-production and production related issues.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852435"/>
                  </a:ext>
                </a:extLst>
              </a:tr>
              <a:tr h="990913"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latin typeface="Discover Sans" pitchFamily="2" charset="0"/>
                          <a:ea typeface="Discover Sans" pitchFamily="2" charset="0"/>
                        </a:rPr>
                        <a:t>Jenkins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i="0" kern="1200">
                          <a:solidFill>
                            <a:schemeClr val="dk1"/>
                          </a:solidFill>
                          <a:effectLst/>
                          <a:latin typeface="Discover Sans" pitchFamily="2" charset="0"/>
                          <a:ea typeface="Discover Sans" pitchFamily="2" charset="0"/>
                          <a:cs typeface="+mn-cs"/>
                        </a:rPr>
                        <a:t>Automation platform for CI and CD that manages and controls software delivery processes throughout the entire lifecycle.</a:t>
                      </a:r>
                      <a:endParaRPr lang="en-US" sz="900">
                        <a:latin typeface="Discover Sans" pitchFamily="2" charset="0"/>
                        <a:ea typeface="Discover Sans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>
                          <a:latin typeface="Discover Sans"/>
                          <a:ea typeface="Discover Sans" pitchFamily="2" charset="0"/>
                          <a:hlinkClick r:id="rId7"/>
                        </a:rPr>
                        <a:t>CICD Tools: Jenkins</a:t>
                      </a:r>
                      <a:endParaRPr lang="en-US" sz="900">
                        <a:latin typeface="Discover Sans"/>
                        <a:ea typeface="Discover Sans" pitchFamily="2" charset="0"/>
                      </a:endParaRPr>
                    </a:p>
                    <a:p>
                      <a:pPr marL="0" lvl="0" indent="0">
                        <a:buFont typeface="Arial" panose="020B0604020202020204" pitchFamily="34" charset="0"/>
                        <a:buNone/>
                      </a:pPr>
                      <a:endParaRPr lang="en-US" sz="900">
                        <a:latin typeface="Discover Sans" pitchFamily="2" charset="0"/>
                        <a:ea typeface="Discover Sans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>
                          <a:latin typeface="Discover Sans"/>
                          <a:ea typeface="Discover Sans" pitchFamily="2" charset="0"/>
                          <a:hlinkClick r:id="rId5"/>
                        </a:rPr>
                        <a:t>Continuous Delivery Yammer Group</a:t>
                      </a:r>
                      <a:endParaRPr lang="en-US" sz="900">
                        <a:latin typeface="Discover Sans"/>
                        <a:ea typeface="Discover Sans" pitchFamily="2" charset="0"/>
                      </a:endParaRPr>
                    </a:p>
                    <a:p>
                      <a:pPr marL="0" lvl="0" indent="0">
                        <a:buFont typeface="Arial" panose="020B0604020202020204" pitchFamily="34" charset="0"/>
                        <a:buNone/>
                      </a:pPr>
                      <a:endParaRPr lang="en-US" sz="900"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>
                          <a:latin typeface="Discover Sans"/>
                          <a:ea typeface="Discover Sans" pitchFamily="2" charset="0"/>
                          <a:hlinkClick r:id="rId8"/>
                        </a:rPr>
                        <a:t>Continuous Integration / Continuous Delivery Office Hours</a:t>
                      </a:r>
                      <a:endParaRPr lang="en-US" sz="900">
                        <a:latin typeface="Discover Sans"/>
                        <a:ea typeface="Discover Sans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>
                          <a:latin typeface="Discover Sans"/>
                          <a:ea typeface="Discover Sans" pitchFamily="2" charset="0"/>
                          <a:hlinkClick r:id="rId9"/>
                        </a:rPr>
                        <a:t>Self-Service: Jenkins</a:t>
                      </a:r>
                      <a:endParaRPr lang="en-US" sz="900">
                        <a:latin typeface="Discover Sans"/>
                        <a:ea typeface="Discover Sans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sz="100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7786150"/>
                  </a:ext>
                </a:extLst>
              </a:tr>
              <a:tr h="990913"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latin typeface="Discover Sans" pitchFamily="2" charset="0"/>
                          <a:ea typeface="Discover Sans" pitchFamily="2" charset="0"/>
                        </a:rPr>
                        <a:t>Harness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latin typeface="Discover Sans" pitchFamily="2" charset="0"/>
                          <a:ea typeface="Discover Sans" pitchFamily="2" charset="0"/>
                        </a:rPr>
                        <a:t>Deployment tool that promotes self servicing deployments with automation throughout the Continuous Delivery pipeline.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>
                          <a:latin typeface="Discover Sans"/>
                          <a:ea typeface="Discover Sans" pitchFamily="2" charset="0"/>
                          <a:hlinkClick r:id="rId10"/>
                        </a:rPr>
                        <a:t>CICD Tools: Harness</a:t>
                      </a:r>
                      <a:endParaRPr lang="en-US" sz="900">
                        <a:latin typeface="Discover Sans"/>
                        <a:ea typeface="Discover Sans" pitchFamily="2" charset="0"/>
                      </a:endParaRPr>
                    </a:p>
                    <a:p>
                      <a:pPr marL="0" lvl="0" indent="0">
                        <a:buFont typeface="Arial" panose="020B0604020202020204" pitchFamily="34" charset="0"/>
                        <a:buNone/>
                      </a:pPr>
                      <a:endParaRPr lang="en-US" sz="900">
                        <a:latin typeface="Discover Sans" pitchFamily="2" charset="0"/>
                        <a:ea typeface="Discover Sans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28650" marR="0" lvl="1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>
                          <a:latin typeface="Discover Sans"/>
                          <a:ea typeface="Discover Sans" pitchFamily="2" charset="0"/>
                          <a:hlinkClick r:id="rId5"/>
                        </a:rPr>
                        <a:t>Continuous Delivery Yammer Group</a:t>
                      </a:r>
                      <a:endParaRPr lang="en-US" sz="900">
                        <a:latin typeface="Discover Sans"/>
                        <a:ea typeface="Discover Sans" pitchFamily="2" charset="0"/>
                      </a:endParaRPr>
                    </a:p>
                    <a:p>
                      <a:pPr lvl="0">
                        <a:buNone/>
                      </a:pPr>
                      <a:endParaRPr lang="en-US" sz="900"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marL="628650" marR="0" lvl="1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>
                          <a:latin typeface="Discover Sans"/>
                          <a:ea typeface="Discover Sans" pitchFamily="2" charset="0"/>
                          <a:hlinkClick r:id="rId8"/>
                        </a:rPr>
                        <a:t>Continuous Integration / Continuous Delivery Office Hours</a:t>
                      </a:r>
                      <a:endParaRPr lang="en-US" sz="900">
                        <a:latin typeface="Discover Sans"/>
                        <a:ea typeface="Discover Sans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>
                          <a:latin typeface="Discover Sans"/>
                          <a:ea typeface="Discover Sans" pitchFamily="2" charset="0"/>
                          <a:hlinkClick r:id="rId11"/>
                        </a:rPr>
                        <a:t>Self-Service: Harness</a:t>
                      </a:r>
                      <a:endParaRPr lang="en-US" sz="900">
                        <a:latin typeface="Discover Sans"/>
                        <a:ea typeface="Discover Sans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sz="100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7354072"/>
                  </a:ext>
                </a:extLst>
              </a:tr>
              <a:tr h="990913"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latin typeface="Discover Sans" pitchFamily="2" charset="0"/>
                          <a:ea typeface="Discover Sans" pitchFamily="2" charset="0"/>
                        </a:rPr>
                        <a:t>Gradle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latin typeface="Discover Sans" pitchFamily="2" charset="0"/>
                          <a:ea typeface="Discover Sans" pitchFamily="2" charset="0"/>
                        </a:rPr>
                        <a:t>General purpose build tool primarily used for java artifact builds.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>
                          <a:latin typeface="Discover Sans"/>
                          <a:ea typeface="Discover Sans" pitchFamily="2" charset="0"/>
                          <a:hlinkClick r:id="rId12"/>
                        </a:rPr>
                        <a:t>CICD Tools: Gradle</a:t>
                      </a:r>
                      <a:endParaRPr lang="en-US" sz="900">
                        <a:latin typeface="Discover Sans"/>
                        <a:ea typeface="Discover Sans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28650" marR="0" lvl="1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>
                          <a:latin typeface="Discover Sans"/>
                          <a:ea typeface="Discover Sans" pitchFamily="2" charset="0"/>
                          <a:hlinkClick r:id="rId5"/>
                        </a:rPr>
                        <a:t>Continuous Delivery Yammer Group</a:t>
                      </a:r>
                      <a:endParaRPr lang="en-US" sz="900">
                        <a:latin typeface="Discover Sans"/>
                        <a:ea typeface="Discover Sans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>
                          <a:latin typeface="Discover Sans"/>
                          <a:ea typeface="Discover Sans" pitchFamily="2" charset="0"/>
                          <a:hlinkClick r:id="rId12"/>
                        </a:rPr>
                        <a:t>Self-Service: Gradle</a:t>
                      </a:r>
                      <a:endParaRPr lang="en-US" sz="900">
                        <a:latin typeface="Discover Sans"/>
                        <a:ea typeface="Discover Sans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sz="100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0667805"/>
                  </a:ext>
                </a:extLst>
              </a:tr>
              <a:tr h="1141051"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latin typeface="Discover Sans" pitchFamily="2" charset="0"/>
                          <a:ea typeface="Discover Sans" pitchFamily="2" charset="0"/>
                        </a:rPr>
                        <a:t>SonarQube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latin typeface="Discover Sans" pitchFamily="2" charset="0"/>
                          <a:ea typeface="Discover Sans" pitchFamily="2" charset="0"/>
                        </a:rPr>
                        <a:t>Open platform to manage code quality.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>
                          <a:latin typeface="Discover Sans" pitchFamily="2" charset="0"/>
                          <a:ea typeface="Discover Sans" pitchFamily="2" charset="0"/>
                          <a:hlinkClick r:id="rId13"/>
                        </a:rPr>
                        <a:t>CICD Tools: SonarQube</a:t>
                      </a:r>
                      <a:endParaRPr lang="en-US" sz="900"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marL="0" lvl="0" indent="0">
                        <a:buFont typeface="Arial" panose="020B0604020202020204" pitchFamily="34" charset="0"/>
                        <a:buNone/>
                      </a:pPr>
                      <a:endParaRPr lang="en-US" sz="900">
                        <a:latin typeface="Discover Sans" pitchFamily="2" charset="0"/>
                        <a:ea typeface="Discover Sans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>
                          <a:latin typeface="Discover Sans" pitchFamily="2" charset="0"/>
                          <a:ea typeface="Discover Sans" pitchFamily="2" charset="0"/>
                          <a:hlinkClick r:id="rId5"/>
                        </a:rPr>
                        <a:t>Continuous Delivery Yammer Group</a:t>
                      </a:r>
                      <a:endParaRPr lang="en-US" sz="900"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marL="0" lvl="0" indent="0">
                        <a:buFont typeface="Arial" panose="020B0604020202020204" pitchFamily="34" charset="0"/>
                        <a:buNone/>
                      </a:pPr>
                      <a:endParaRPr lang="en-US" sz="900"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>
                          <a:latin typeface="Discover Sans" pitchFamily="2" charset="0"/>
                          <a:ea typeface="Discover Sans" pitchFamily="2" charset="0"/>
                          <a:hlinkClick r:id="rId8"/>
                        </a:rPr>
                        <a:t>Continuous Integration / Continuous Delivery Office Hours</a:t>
                      </a:r>
                      <a:endParaRPr lang="en-US" sz="900">
                        <a:latin typeface="Discover Sans" pitchFamily="2" charset="0"/>
                        <a:ea typeface="Discover Sans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>
                          <a:latin typeface="Discover Sans" pitchFamily="2" charset="0"/>
                          <a:ea typeface="Discover Sans" pitchFamily="2" charset="0"/>
                          <a:hlinkClick r:id="rId14"/>
                        </a:rPr>
                        <a:t>Self-Service: SonarQube</a:t>
                      </a:r>
                      <a:endParaRPr lang="en-US" sz="900">
                        <a:latin typeface="Discover Sans" pitchFamily="2" charset="0"/>
                        <a:ea typeface="Discover Sans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sz="100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9366170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D8390DCE-3F30-212E-15B0-F0F7C58EEC72}"/>
              </a:ext>
            </a:extLst>
          </p:cNvPr>
          <p:cNvSpPr txBox="1"/>
          <p:nvPr/>
        </p:nvSpPr>
        <p:spPr>
          <a:xfrm>
            <a:off x="597540" y="131782"/>
            <a:ext cx="898677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>
                <a:solidFill>
                  <a:schemeClr val="accent2"/>
                </a:solidFill>
                <a:latin typeface="Discover Sans" pitchFamily="2" charset="0"/>
                <a:ea typeface="Discover Sans" pitchFamily="2" charset="0"/>
              </a:rPr>
              <a:t>Continuous Delivery and Continuous Integration Tools</a:t>
            </a: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174173CE-E956-B8B1-F40B-F49E2019AC2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051923" y="696213"/>
            <a:ext cx="596900" cy="532826"/>
          </a:xfrm>
          <a:prstGeom prst="rect">
            <a:avLst/>
          </a:prstGeom>
        </p:spPr>
      </p:pic>
      <p:pic>
        <p:nvPicPr>
          <p:cNvPr id="6" name="Picture 5" descr="Graphical user interface, Teams&#10;&#10;Description automatically generated">
            <a:extLst>
              <a:ext uri="{FF2B5EF4-FFF2-40B4-BE49-F238E27FC236}">
                <a16:creationId xmlns:a16="http://schemas.microsoft.com/office/drawing/2014/main" id="{112BCD2F-A0FC-7B17-9C1B-E0362A213722}"/>
              </a:ext>
            </a:extLst>
          </p:cNvPr>
          <p:cNvPicPr>
            <a:picLocks noChangeAspect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800"/>
          <a:stretch/>
        </p:blipFill>
        <p:spPr>
          <a:xfrm>
            <a:off x="9066771" y="598839"/>
            <a:ext cx="596900" cy="630200"/>
          </a:xfrm>
          <a:prstGeom prst="rect">
            <a:avLst/>
          </a:prstGeom>
        </p:spPr>
      </p:pic>
      <p:pic>
        <p:nvPicPr>
          <p:cNvPr id="8" name="Picture 7" descr="Graphical user interface, application, Teams&#10;&#10;Description automatically generated">
            <a:extLst>
              <a:ext uri="{FF2B5EF4-FFF2-40B4-BE49-F238E27FC236}">
                <a16:creationId xmlns:a16="http://schemas.microsoft.com/office/drawing/2014/main" id="{891646DE-FD59-7AF4-1200-C1D2811BAEB8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4098" y="616300"/>
            <a:ext cx="685093" cy="628854"/>
          </a:xfrm>
          <a:prstGeom prst="rect">
            <a:avLst/>
          </a:prstGeom>
        </p:spPr>
      </p:pic>
      <p:pic>
        <p:nvPicPr>
          <p:cNvPr id="10" name="Picture 9" descr="Graphical user interface, application, Teams&#10;&#10;Description automatically generated">
            <a:extLst>
              <a:ext uri="{FF2B5EF4-FFF2-40B4-BE49-F238E27FC236}">
                <a16:creationId xmlns:a16="http://schemas.microsoft.com/office/drawing/2014/main" id="{B36FF26F-8D30-E14B-5333-4BBF472AE797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7058" y="696213"/>
            <a:ext cx="547227" cy="532826"/>
          </a:xfrm>
          <a:prstGeom prst="rect">
            <a:avLst/>
          </a:prstGeom>
        </p:spPr>
      </p:pic>
      <p:pic>
        <p:nvPicPr>
          <p:cNvPr id="12" name="Picture 11" descr="Icon&#10;&#10;Description automatically generated">
            <a:extLst>
              <a:ext uri="{FF2B5EF4-FFF2-40B4-BE49-F238E27FC236}">
                <a16:creationId xmlns:a16="http://schemas.microsoft.com/office/drawing/2014/main" id="{C58117AF-C6CE-DF5E-FDFF-FB5B55A673F5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1462" y="2034523"/>
            <a:ext cx="314981" cy="304303"/>
          </a:xfrm>
          <a:prstGeom prst="rect">
            <a:avLst/>
          </a:prstGeom>
        </p:spPr>
      </p:pic>
      <p:pic>
        <p:nvPicPr>
          <p:cNvPr id="14" name="Picture 13" descr="Graphical user interface, application, Teams&#10;&#10;Description automatically generated">
            <a:extLst>
              <a:ext uri="{FF2B5EF4-FFF2-40B4-BE49-F238E27FC236}">
                <a16:creationId xmlns:a16="http://schemas.microsoft.com/office/drawing/2014/main" id="{1339FE93-EDD3-0980-3196-FDC37C677A78}"/>
              </a:ext>
            </a:extLst>
          </p:cNvPr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50" r="10025"/>
          <a:stretch/>
        </p:blipFill>
        <p:spPr>
          <a:xfrm>
            <a:off x="6621461" y="1701981"/>
            <a:ext cx="314982" cy="324497"/>
          </a:xfrm>
          <a:prstGeom prst="rect">
            <a:avLst/>
          </a:prstGeom>
        </p:spPr>
      </p:pic>
      <p:pic>
        <p:nvPicPr>
          <p:cNvPr id="11" name="Picture 10" descr="Icon&#10;&#10;Description automatically generated">
            <a:extLst>
              <a:ext uri="{FF2B5EF4-FFF2-40B4-BE49-F238E27FC236}">
                <a16:creationId xmlns:a16="http://schemas.microsoft.com/office/drawing/2014/main" id="{2BFFCDC8-EA54-4F44-C844-C5FDBB677D1A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1462" y="2610564"/>
            <a:ext cx="314981" cy="304303"/>
          </a:xfrm>
          <a:prstGeom prst="rect">
            <a:avLst/>
          </a:prstGeom>
        </p:spPr>
      </p:pic>
      <p:pic>
        <p:nvPicPr>
          <p:cNvPr id="13" name="Picture 12" descr="Graphical user interface, application, Teams&#10;&#10;Description automatically generated">
            <a:extLst>
              <a:ext uri="{FF2B5EF4-FFF2-40B4-BE49-F238E27FC236}">
                <a16:creationId xmlns:a16="http://schemas.microsoft.com/office/drawing/2014/main" id="{87E3992E-F5AE-8915-7B22-CAB79258CE75}"/>
              </a:ext>
            </a:extLst>
          </p:cNvPr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50" r="10025"/>
          <a:stretch/>
        </p:blipFill>
        <p:spPr>
          <a:xfrm>
            <a:off x="6621461" y="2946884"/>
            <a:ext cx="314982" cy="324497"/>
          </a:xfrm>
          <a:prstGeom prst="rect">
            <a:avLst/>
          </a:prstGeom>
        </p:spPr>
      </p:pic>
      <p:pic>
        <p:nvPicPr>
          <p:cNvPr id="15" name="Picture 14" descr="Icon&#10;&#10;Description automatically generated">
            <a:extLst>
              <a:ext uri="{FF2B5EF4-FFF2-40B4-BE49-F238E27FC236}">
                <a16:creationId xmlns:a16="http://schemas.microsoft.com/office/drawing/2014/main" id="{0365578F-5C34-0EFA-51DB-10D8CC3D56FD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1462" y="3586620"/>
            <a:ext cx="314981" cy="304303"/>
          </a:xfrm>
          <a:prstGeom prst="rect">
            <a:avLst/>
          </a:prstGeom>
        </p:spPr>
      </p:pic>
      <p:pic>
        <p:nvPicPr>
          <p:cNvPr id="16" name="Picture 15" descr="Graphical user interface, application, Teams&#10;&#10;Description automatically generated">
            <a:extLst>
              <a:ext uri="{FF2B5EF4-FFF2-40B4-BE49-F238E27FC236}">
                <a16:creationId xmlns:a16="http://schemas.microsoft.com/office/drawing/2014/main" id="{5835D4C5-8C0D-7790-02D3-16DDAD88F1D4}"/>
              </a:ext>
            </a:extLst>
          </p:cNvPr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50" r="10025"/>
          <a:stretch/>
        </p:blipFill>
        <p:spPr>
          <a:xfrm>
            <a:off x="6621461" y="3969942"/>
            <a:ext cx="314982" cy="324497"/>
          </a:xfrm>
          <a:prstGeom prst="rect">
            <a:avLst/>
          </a:prstGeom>
        </p:spPr>
      </p:pic>
      <p:pic>
        <p:nvPicPr>
          <p:cNvPr id="17" name="Picture 16" descr="Icon&#10;&#10;Description automatically generated">
            <a:extLst>
              <a:ext uri="{FF2B5EF4-FFF2-40B4-BE49-F238E27FC236}">
                <a16:creationId xmlns:a16="http://schemas.microsoft.com/office/drawing/2014/main" id="{96924113-48FD-928C-1CD7-ABFD43FEF82E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1462" y="4589484"/>
            <a:ext cx="314981" cy="304303"/>
          </a:xfrm>
          <a:prstGeom prst="rect">
            <a:avLst/>
          </a:prstGeom>
        </p:spPr>
      </p:pic>
      <p:pic>
        <p:nvPicPr>
          <p:cNvPr id="18" name="Picture 17" descr="Icon&#10;&#10;Description automatically generated">
            <a:extLst>
              <a:ext uri="{FF2B5EF4-FFF2-40B4-BE49-F238E27FC236}">
                <a16:creationId xmlns:a16="http://schemas.microsoft.com/office/drawing/2014/main" id="{683CE214-A2E5-B764-7E66-465AEF7227B9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1462" y="5559543"/>
            <a:ext cx="314981" cy="304303"/>
          </a:xfrm>
          <a:prstGeom prst="rect">
            <a:avLst/>
          </a:prstGeom>
        </p:spPr>
      </p:pic>
      <p:pic>
        <p:nvPicPr>
          <p:cNvPr id="19" name="Picture 18" descr="Graphical user interface, application, Teams&#10;&#10;Description automatically generated">
            <a:extLst>
              <a:ext uri="{FF2B5EF4-FFF2-40B4-BE49-F238E27FC236}">
                <a16:creationId xmlns:a16="http://schemas.microsoft.com/office/drawing/2014/main" id="{76D54C43-4EB8-915D-6EE7-4F907CAA878D}"/>
              </a:ext>
            </a:extLst>
          </p:cNvPr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50" r="10025"/>
          <a:stretch/>
        </p:blipFill>
        <p:spPr>
          <a:xfrm>
            <a:off x="6621461" y="5937217"/>
            <a:ext cx="314982" cy="324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9390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1F57DCF3-4919-AECA-12A9-F1DCC68A09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5834963"/>
              </p:ext>
            </p:extLst>
          </p:nvPr>
        </p:nvGraphicFramePr>
        <p:xfrm>
          <a:off x="597540" y="175279"/>
          <a:ext cx="11394558" cy="76480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6243">
                  <a:extLst>
                    <a:ext uri="{9D8B030D-6E8A-4147-A177-3AD203B41FA5}">
                      <a16:colId xmlns:a16="http://schemas.microsoft.com/office/drawing/2014/main" val="513794599"/>
                    </a:ext>
                  </a:extLst>
                </a:gridCol>
                <a:gridCol w="2278911">
                  <a:extLst>
                    <a:ext uri="{9D8B030D-6E8A-4147-A177-3AD203B41FA5}">
                      <a16:colId xmlns:a16="http://schemas.microsoft.com/office/drawing/2014/main" val="1925627750"/>
                    </a:ext>
                  </a:extLst>
                </a:gridCol>
                <a:gridCol w="1907351">
                  <a:extLst>
                    <a:ext uri="{9D8B030D-6E8A-4147-A177-3AD203B41FA5}">
                      <a16:colId xmlns:a16="http://schemas.microsoft.com/office/drawing/2014/main" val="3962688613"/>
                    </a:ext>
                  </a:extLst>
                </a:gridCol>
                <a:gridCol w="2229899">
                  <a:extLst>
                    <a:ext uri="{9D8B030D-6E8A-4147-A177-3AD203B41FA5}">
                      <a16:colId xmlns:a16="http://schemas.microsoft.com/office/drawing/2014/main" val="3837542045"/>
                    </a:ext>
                  </a:extLst>
                </a:gridCol>
                <a:gridCol w="1892411">
                  <a:extLst>
                    <a:ext uri="{9D8B030D-6E8A-4147-A177-3AD203B41FA5}">
                      <a16:colId xmlns:a16="http://schemas.microsoft.com/office/drawing/2014/main" val="843884855"/>
                    </a:ext>
                  </a:extLst>
                </a:gridCol>
                <a:gridCol w="1599743">
                  <a:extLst>
                    <a:ext uri="{9D8B030D-6E8A-4147-A177-3AD203B41FA5}">
                      <a16:colId xmlns:a16="http://schemas.microsoft.com/office/drawing/2014/main" val="1017683039"/>
                    </a:ext>
                  </a:extLst>
                </a:gridCol>
              </a:tblGrid>
              <a:tr h="1186796"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Discover Sans" pitchFamily="2" charset="0"/>
                          <a:ea typeface="Discover Sans" pitchFamily="2" charset="0"/>
                        </a:rPr>
                        <a:t>System / Tool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Discover Sans" pitchFamily="2" charset="0"/>
                          <a:ea typeface="Discover Sans" pitchFamily="2" charset="0"/>
                        </a:rPr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900">
                        <a:solidFill>
                          <a:schemeClr val="tx1"/>
                        </a:solidFill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lvl="0" algn="ctr">
                        <a:buNone/>
                      </a:pPr>
                      <a:endParaRPr lang="en-US" sz="900">
                        <a:solidFill>
                          <a:schemeClr val="tx1"/>
                        </a:solidFill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lvl="0" algn="ctr">
                        <a:buNone/>
                      </a:pPr>
                      <a:endParaRPr lang="en-US" sz="900">
                        <a:solidFill>
                          <a:schemeClr val="tx1"/>
                        </a:solidFill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lvl="0" algn="ctr">
                        <a:buNone/>
                      </a:pPr>
                      <a:endParaRPr lang="en-US" sz="900">
                        <a:solidFill>
                          <a:schemeClr val="tx1"/>
                        </a:solidFill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lvl="0" algn="ctr">
                        <a:buNone/>
                      </a:pPr>
                      <a:endParaRPr lang="en-US" sz="900">
                        <a:solidFill>
                          <a:schemeClr val="tx1"/>
                        </a:solidFill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900">
                          <a:solidFill>
                            <a:schemeClr val="tx1"/>
                          </a:solidFill>
                          <a:latin typeface="Discover Sans"/>
                          <a:ea typeface="Discover Sans" pitchFamily="2" charset="0"/>
                        </a:rPr>
                        <a:t>General Information &amp; Overviews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900">
                        <a:solidFill>
                          <a:schemeClr val="tx1"/>
                        </a:solidFill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lvl="0" algn="ctr">
                        <a:buNone/>
                      </a:pPr>
                      <a:endParaRPr lang="en-US" sz="900">
                        <a:solidFill>
                          <a:schemeClr val="tx1"/>
                        </a:solidFill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lvl="0" algn="ctr">
                        <a:buNone/>
                      </a:pPr>
                      <a:endParaRPr lang="en-US" sz="900">
                        <a:solidFill>
                          <a:schemeClr val="tx1"/>
                        </a:solidFill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lvl="0" algn="ctr">
                        <a:buNone/>
                      </a:pPr>
                      <a:endParaRPr lang="en-US" sz="900">
                        <a:solidFill>
                          <a:schemeClr val="tx1"/>
                        </a:solidFill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lvl="0" algn="ctr">
                        <a:buNone/>
                      </a:pPr>
                      <a:endParaRPr lang="en-US" sz="900">
                        <a:solidFill>
                          <a:schemeClr val="tx1"/>
                        </a:solidFill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900">
                          <a:solidFill>
                            <a:schemeClr val="tx1"/>
                          </a:solidFill>
                          <a:latin typeface="Discover Sans" pitchFamily="2" charset="0"/>
                          <a:ea typeface="Discover Sans" pitchFamily="2" charset="0"/>
                        </a:rPr>
                        <a:t>I need to engage on a general question</a:t>
                      </a:r>
                      <a:endParaRPr lang="en-US" sz="900">
                        <a:latin typeface="Discover Sans" pitchFamily="2" charset="0"/>
                        <a:ea typeface="Discover Sans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900">
                        <a:solidFill>
                          <a:schemeClr val="tx1"/>
                        </a:solidFill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lvl="0" algn="ctr">
                        <a:buNone/>
                      </a:pPr>
                      <a:endParaRPr lang="en-US" sz="900">
                        <a:solidFill>
                          <a:schemeClr val="tx1"/>
                        </a:solidFill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lvl="0" algn="ctr">
                        <a:buNone/>
                      </a:pPr>
                      <a:endParaRPr lang="en-US" sz="900">
                        <a:solidFill>
                          <a:schemeClr val="tx1"/>
                        </a:solidFill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lvl="0" algn="ctr">
                        <a:buNone/>
                      </a:pPr>
                      <a:endParaRPr lang="en-US" sz="900">
                        <a:solidFill>
                          <a:schemeClr val="tx1"/>
                        </a:solidFill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lvl="0" algn="ctr">
                        <a:buNone/>
                      </a:pPr>
                      <a:endParaRPr lang="en-US" sz="900">
                        <a:solidFill>
                          <a:schemeClr val="tx1"/>
                        </a:solidFill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900">
                          <a:solidFill>
                            <a:schemeClr val="tx1"/>
                          </a:solidFill>
                          <a:latin typeface="Discover Sans" pitchFamily="2" charset="0"/>
                          <a:ea typeface="Discover Sans" pitchFamily="2" charset="0"/>
                        </a:rPr>
                        <a:t>I need prior solutions or support resources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>
                        <a:solidFill>
                          <a:schemeClr val="tx1"/>
                        </a:solidFill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algn="ctr"/>
                      <a:endParaRPr lang="en-US" sz="900">
                        <a:solidFill>
                          <a:schemeClr val="tx1"/>
                        </a:solidFill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algn="ctr"/>
                      <a:endParaRPr lang="en-US" sz="900">
                        <a:solidFill>
                          <a:schemeClr val="tx1"/>
                        </a:solidFill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algn="ctr"/>
                      <a:endParaRPr lang="en-US" sz="900">
                        <a:solidFill>
                          <a:schemeClr val="tx1"/>
                        </a:solidFill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algn="ctr"/>
                      <a:endParaRPr lang="en-US" sz="900">
                        <a:solidFill>
                          <a:schemeClr val="tx1"/>
                        </a:solidFill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Discover Sans" pitchFamily="2" charset="0"/>
                          <a:ea typeface="Discover Sans" pitchFamily="2" charset="0"/>
                        </a:rPr>
                        <a:t>Support Group 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1637515"/>
                  </a:ext>
                </a:extLst>
              </a:tr>
              <a:tr h="913450"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latin typeface="Discover Sans" pitchFamily="2" charset="0"/>
                          <a:ea typeface="Discover Sans" pitchFamily="2" charset="0"/>
                        </a:rPr>
                        <a:t>Nexus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latin typeface="Discover Sans" pitchFamily="2" charset="0"/>
                          <a:ea typeface="Discover Sans" pitchFamily="2" charset="0"/>
                        </a:rPr>
                        <a:t>Artifact repository manager that allows you to proxy, collect, and manage dependencies.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>
                          <a:latin typeface="Discover Sans" pitchFamily="2" charset="0"/>
                          <a:ea typeface="Discover Sans" pitchFamily="2" charset="0"/>
                          <a:hlinkClick r:id="rId3"/>
                        </a:rPr>
                        <a:t>CICD Tools: Nexus</a:t>
                      </a:r>
                      <a:endParaRPr lang="en-US" sz="900"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900">
                        <a:latin typeface="Discover Sans" pitchFamily="2" charset="0"/>
                        <a:ea typeface="Discover Sans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>
                          <a:latin typeface="Discover Sans" pitchFamily="2" charset="0"/>
                          <a:ea typeface="Discover Sans" pitchFamily="2" charset="0"/>
                          <a:hlinkClick r:id="rId4"/>
                        </a:rPr>
                        <a:t>Continuous Delivery Yammer Group</a:t>
                      </a:r>
                      <a:endParaRPr lang="en-US" sz="900"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marL="0" lvl="0" indent="0">
                        <a:buFont typeface="Arial" panose="020B0604020202020204" pitchFamily="34" charset="0"/>
                        <a:buNone/>
                      </a:pPr>
                      <a:endParaRPr lang="en-US" sz="900"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>
                          <a:latin typeface="Discover Sans" pitchFamily="2" charset="0"/>
                          <a:ea typeface="Discover Sans" pitchFamily="2" charset="0"/>
                          <a:hlinkClick r:id="rId5"/>
                        </a:rPr>
                        <a:t>Continuous Integration / Continuous Delivery Office Hours</a:t>
                      </a:r>
                      <a:endParaRPr lang="en-US" sz="900"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marL="0" lvl="0" indent="0">
                        <a:buFont typeface="Arial" panose="020B0604020202020204" pitchFamily="34" charset="0"/>
                        <a:buNone/>
                      </a:pPr>
                      <a:endParaRPr lang="en-US" sz="900">
                        <a:latin typeface="Discover Sans" pitchFamily="2" charset="0"/>
                        <a:ea typeface="Discover Sans" pitchFamily="2" charset="0"/>
                        <a:hlinkClick r:id="rId6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900"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>
                          <a:latin typeface="Discover Sans" pitchFamily="2" charset="0"/>
                          <a:ea typeface="Discover Sans" pitchFamily="2" charset="0"/>
                          <a:hlinkClick r:id="rId7"/>
                        </a:rPr>
                        <a:t>Self-Service: Nexus</a:t>
                      </a:r>
                      <a:endParaRPr lang="en-US" sz="900">
                        <a:latin typeface="Discover Sans" pitchFamily="2" charset="0"/>
                        <a:ea typeface="Discover Sans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6">
                  <a:txBody>
                    <a:bodyPr/>
                    <a:lstStyle/>
                    <a:p>
                      <a:r>
                        <a:rPr lang="en-US" sz="900" b="1">
                          <a:latin typeface="Discover Sans" pitchFamily="2" charset="0"/>
                          <a:ea typeface="Discover Sans" pitchFamily="2" charset="0"/>
                        </a:rPr>
                        <a:t>CICD Support</a:t>
                      </a:r>
                      <a:r>
                        <a:rPr lang="en-US" sz="900">
                          <a:latin typeface="Discover Sans" pitchFamily="2" charset="0"/>
                          <a:ea typeface="Discover Sans" pitchFamily="2" charset="0"/>
                        </a:rPr>
                        <a:t>: </a:t>
                      </a:r>
                      <a:r>
                        <a:rPr lang="en-US" sz="900">
                          <a:latin typeface="Discover Sans" pitchFamily="2" charset="0"/>
                          <a:ea typeface="Discover Sans" pitchFamily="2" charset="0"/>
                          <a:hlinkClick r:id="rId8"/>
                        </a:rPr>
                        <a:t>Contact Us </a:t>
                      </a:r>
                      <a:r>
                        <a:rPr lang="en-US" sz="900">
                          <a:latin typeface="Discover Sans" pitchFamily="2" charset="0"/>
                          <a:ea typeface="Discover Sans" pitchFamily="2" charset="0"/>
                        </a:rPr>
                        <a:t>for further handling of other non-production and production related issues.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852435"/>
                  </a:ext>
                </a:extLst>
              </a:tr>
              <a:tr h="990913">
                <a:tc>
                  <a:txBody>
                    <a:bodyPr/>
                    <a:lstStyle/>
                    <a:p>
                      <a:pPr algn="ctr"/>
                      <a:r>
                        <a:rPr lang="en-US" sz="1000" b="1" err="1">
                          <a:latin typeface="Discover Sans" pitchFamily="2" charset="0"/>
                          <a:ea typeface="Discover Sans" pitchFamily="2" charset="0"/>
                        </a:rPr>
                        <a:t>NexusIQ</a:t>
                      </a:r>
                      <a:endParaRPr lang="en-US" sz="1000" b="1">
                        <a:latin typeface="Discover Sans" pitchFamily="2" charset="0"/>
                        <a:ea typeface="Discover Sans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latin typeface="Discover Sans" pitchFamily="2" charset="0"/>
                          <a:ea typeface="Discover Sans" pitchFamily="2" charset="0"/>
                        </a:rPr>
                        <a:t>Security policy and license management engine for opensource components.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900">
                        <a:latin typeface="Discover Sans" pitchFamily="2" charset="0"/>
                        <a:ea typeface="Discover Sans" pitchFamily="2" charset="0"/>
                        <a:hlinkClick r:id="rId9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>
                          <a:latin typeface="Discover Sans"/>
                          <a:ea typeface="Discover Sans" pitchFamily="2" charset="0"/>
                          <a:hlinkClick r:id="rId9"/>
                        </a:rPr>
                        <a:t>CICD Tools: </a:t>
                      </a:r>
                      <a:r>
                        <a:rPr lang="en-US" sz="900" err="1">
                          <a:latin typeface="Discover Sans"/>
                          <a:ea typeface="Discover Sans" pitchFamily="2" charset="0"/>
                          <a:hlinkClick r:id="rId9"/>
                        </a:rPr>
                        <a:t>NexusIQ</a:t>
                      </a:r>
                      <a:endParaRPr lang="en-US" sz="900">
                        <a:latin typeface="Discover Sans"/>
                        <a:ea typeface="Discover Sans" pitchFamily="2" charset="0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900">
                        <a:latin typeface="Discover Sans" pitchFamily="2" charset="0"/>
                        <a:ea typeface="Discover Sans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>
                          <a:latin typeface="Discover Sans"/>
                          <a:ea typeface="Discover Sans" pitchFamily="2" charset="0"/>
                          <a:hlinkClick r:id="rId4"/>
                        </a:rPr>
                        <a:t>Continuous Delivery Yammer Group</a:t>
                      </a:r>
                      <a:endParaRPr lang="en-US" sz="900">
                        <a:latin typeface="Discover Sans"/>
                        <a:ea typeface="Discover Sans" pitchFamily="2" charset="0"/>
                      </a:endParaRPr>
                    </a:p>
                    <a:p>
                      <a:pPr marL="0" lvl="0" indent="0">
                        <a:buFont typeface="Arial" panose="020B0604020202020204" pitchFamily="34" charset="0"/>
                        <a:buNone/>
                      </a:pPr>
                      <a:endParaRPr lang="en-US" sz="900"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>
                          <a:latin typeface="Discover Sans"/>
                          <a:ea typeface="Discover Sans" pitchFamily="2" charset="0"/>
                          <a:hlinkClick r:id="rId5"/>
                        </a:rPr>
                        <a:t>Continuous Integration / Continuous Delivery Office Hours</a:t>
                      </a:r>
                      <a:endParaRPr lang="en-US" sz="900">
                        <a:latin typeface="Discover Sans"/>
                        <a:ea typeface="Discover Sans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err="1">
                          <a:latin typeface="Discover Sans"/>
                          <a:ea typeface="Discover Sans" pitchFamily="2" charset="0"/>
                          <a:hlinkClick r:id="rId10"/>
                        </a:rPr>
                        <a:t>NexusIQ</a:t>
                      </a:r>
                      <a:r>
                        <a:rPr lang="en-US" sz="900">
                          <a:latin typeface="Discover Sans"/>
                          <a:ea typeface="Discover Sans" pitchFamily="2" charset="0"/>
                          <a:hlinkClick r:id="rId10"/>
                        </a:rPr>
                        <a:t> OSS Adoption</a:t>
                      </a:r>
                      <a:endParaRPr lang="en-US" sz="900">
                        <a:latin typeface="Discover Sans"/>
                        <a:ea typeface="Discover Sans" pitchFamily="2" charset="0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900"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>
                          <a:latin typeface="Discover Sans"/>
                          <a:ea typeface="Discover Sans" pitchFamily="2" charset="0"/>
                          <a:hlinkClick r:id="rId10"/>
                        </a:rPr>
                        <a:t>Self-Service: </a:t>
                      </a:r>
                      <a:r>
                        <a:rPr lang="en-US" sz="900" err="1">
                          <a:latin typeface="Discover Sans"/>
                          <a:ea typeface="Discover Sans" pitchFamily="2" charset="0"/>
                          <a:hlinkClick r:id="rId10"/>
                        </a:rPr>
                        <a:t>NexusIQ</a:t>
                      </a:r>
                      <a:endParaRPr lang="en-US" sz="900">
                        <a:latin typeface="Discover Sans"/>
                        <a:ea typeface="Discover Sans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sz="100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7786150"/>
                  </a:ext>
                </a:extLst>
              </a:tr>
              <a:tr h="990913"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latin typeface="Discover Sans" pitchFamily="2" charset="0"/>
                          <a:ea typeface="Discover Sans" pitchFamily="2" charset="0"/>
                        </a:rPr>
                        <a:t>GitHub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i="0" kern="1200">
                          <a:solidFill>
                            <a:schemeClr val="dk1"/>
                          </a:solidFill>
                          <a:effectLst/>
                          <a:latin typeface="Discover Sans" pitchFamily="2" charset="0"/>
                          <a:ea typeface="Discover Sans" pitchFamily="2" charset="0"/>
                          <a:cs typeface="+mn-cs"/>
                        </a:rPr>
                        <a:t>Version control system that provides capabilities for collaboration, automation and CI/CD. </a:t>
                      </a:r>
                      <a:endParaRPr lang="en-US" sz="900">
                        <a:latin typeface="Discover Sans" pitchFamily="2" charset="0"/>
                        <a:ea typeface="Discover Sans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>
                          <a:latin typeface="Discover Sans" pitchFamily="2" charset="0"/>
                          <a:ea typeface="Discover Sans" pitchFamily="2" charset="0"/>
                          <a:hlinkClick r:id="rId11"/>
                        </a:rPr>
                        <a:t>CICD Tools: GitHub</a:t>
                      </a:r>
                      <a:endParaRPr lang="en-US" sz="900"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900">
                        <a:latin typeface="Discover Sans" pitchFamily="2" charset="0"/>
                        <a:ea typeface="Discover Sans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28650" marR="0" lvl="1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>
                          <a:latin typeface="Discover Sans"/>
                          <a:ea typeface="Discover Sans" pitchFamily="2" charset="0"/>
                          <a:hlinkClick r:id="rId4"/>
                        </a:rPr>
                        <a:t>Continuous Delivery Yammer Group</a:t>
                      </a:r>
                      <a:endParaRPr lang="en-US" sz="900">
                        <a:latin typeface="Discover Sans"/>
                        <a:ea typeface="Discover Sans" pitchFamily="2" charset="0"/>
                      </a:endParaRPr>
                    </a:p>
                    <a:p>
                      <a:pPr lvl="0">
                        <a:buNone/>
                      </a:pPr>
                      <a:endParaRPr lang="en-US" sz="900"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marL="628650" marR="0" lvl="1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>
                          <a:latin typeface="Discover Sans"/>
                          <a:ea typeface="Discover Sans" pitchFamily="2" charset="0"/>
                          <a:hlinkClick r:id="rId5"/>
                        </a:rPr>
                        <a:t>Continuous Integration / Continuous Delivery Office Hours</a:t>
                      </a:r>
                      <a:endParaRPr lang="en-US" sz="900">
                        <a:latin typeface="Discover Sans"/>
                        <a:ea typeface="Discover Sans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900"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>
                          <a:latin typeface="Discover Sans" pitchFamily="2" charset="0"/>
                          <a:ea typeface="Discover Sans" pitchFamily="2" charset="0"/>
                          <a:hlinkClick r:id="rId12"/>
                        </a:rPr>
                        <a:t>Self-Service: GitHub</a:t>
                      </a:r>
                      <a:endParaRPr lang="en-US" sz="900">
                        <a:latin typeface="Discover Sans" pitchFamily="2" charset="0"/>
                        <a:ea typeface="Discover Sans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sz="100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7354072"/>
                  </a:ext>
                </a:extLst>
              </a:tr>
              <a:tr h="1145803"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latin typeface="Discover Sans" pitchFamily="2" charset="0"/>
                          <a:ea typeface="Discover Sans" pitchFamily="2" charset="0"/>
                        </a:rPr>
                        <a:t>Sedated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i="0" kern="1200">
                          <a:solidFill>
                            <a:schemeClr val="dk1"/>
                          </a:solidFill>
                          <a:effectLst/>
                          <a:latin typeface="Discover Sans" pitchFamily="2" charset="0"/>
                          <a:ea typeface="Discover Sans" pitchFamily="2" charset="0"/>
                          <a:cs typeface="+mn-cs"/>
                        </a:rPr>
                        <a:t>Preventative control tool that reviews code changes and identifies sensitive data to prevent commits from being pushed to the Git server.</a:t>
                      </a:r>
                      <a:endParaRPr lang="en-US" sz="900">
                        <a:latin typeface="Discover Sans" pitchFamily="2" charset="0"/>
                        <a:ea typeface="Discover Sans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>
                          <a:latin typeface="Discover Sans" pitchFamily="2" charset="0"/>
                          <a:ea typeface="Discover Sans" pitchFamily="2" charset="0"/>
                          <a:hlinkClick r:id="rId13"/>
                        </a:rPr>
                        <a:t>CICD Tools: Sedated</a:t>
                      </a:r>
                      <a:endParaRPr lang="en-US" sz="900">
                        <a:latin typeface="Discover Sans" pitchFamily="2" charset="0"/>
                        <a:ea typeface="Discover Sans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286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>
                          <a:latin typeface="Discover Sans" pitchFamily="2" charset="0"/>
                          <a:ea typeface="Discover Sans" pitchFamily="2" charset="0"/>
                          <a:hlinkClick r:id="rId4"/>
                        </a:rPr>
                        <a:t>Continuous Delivery Yammer Group</a:t>
                      </a:r>
                      <a:endParaRPr lang="en-US" sz="900">
                        <a:latin typeface="Discover Sans" pitchFamily="2" charset="0"/>
                        <a:ea typeface="Discover Sans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>
                          <a:latin typeface="Discover Sans" pitchFamily="2" charset="0"/>
                          <a:ea typeface="Discover Sans" pitchFamily="2" charset="0"/>
                          <a:hlinkClick r:id="rId14"/>
                        </a:rPr>
                        <a:t>Self-Service: Sedated</a:t>
                      </a:r>
                      <a:endParaRPr lang="en-US" sz="900">
                        <a:latin typeface="Discover Sans" pitchFamily="2" charset="0"/>
                        <a:ea typeface="Discover Sans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sz="100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0667805"/>
                  </a:ext>
                </a:extLst>
              </a:tr>
              <a:tr h="1141051">
                <a:tc>
                  <a:txBody>
                    <a:bodyPr/>
                    <a:lstStyle/>
                    <a:p>
                      <a:pPr algn="ctr"/>
                      <a:r>
                        <a:rPr lang="en-US" sz="1000" b="1" err="1">
                          <a:latin typeface="Discover Sans" pitchFamily="2" charset="0"/>
                          <a:ea typeface="Discover Sans" pitchFamily="2" charset="0"/>
                        </a:rPr>
                        <a:t>Huduku</a:t>
                      </a:r>
                      <a:endParaRPr lang="en-US" sz="1000" b="1">
                        <a:latin typeface="Discover Sans" pitchFamily="2" charset="0"/>
                        <a:ea typeface="Discover Sans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kern="1200">
                          <a:solidFill>
                            <a:schemeClr val="dk1"/>
                          </a:solidFill>
                          <a:effectLst/>
                          <a:latin typeface="Discover Sans" pitchFamily="2" charset="0"/>
                          <a:ea typeface="Discover Sans" pitchFamily="2" charset="0"/>
                          <a:cs typeface="+mn-cs"/>
                        </a:rPr>
                        <a:t>Detective control tool that reviews code changes and identifies sensitive data to prevent commits from being pushed to the Git server.</a:t>
                      </a:r>
                      <a:endParaRPr lang="en-US" sz="900">
                        <a:latin typeface="Discover Sans" pitchFamily="2" charset="0"/>
                        <a:ea typeface="Discover Sans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>
                          <a:latin typeface="Discover Sans"/>
                          <a:ea typeface="Discover Sans" pitchFamily="2" charset="0"/>
                          <a:hlinkClick r:id="rId15"/>
                        </a:rPr>
                        <a:t>CICD Tools: </a:t>
                      </a:r>
                      <a:r>
                        <a:rPr lang="en-US" sz="900" err="1">
                          <a:latin typeface="Discover Sans"/>
                          <a:ea typeface="Discover Sans" pitchFamily="2" charset="0"/>
                          <a:hlinkClick r:id="rId15"/>
                        </a:rPr>
                        <a:t>Huduku</a:t>
                      </a:r>
                      <a:endParaRPr lang="en-US" sz="900">
                        <a:latin typeface="Discover Sans"/>
                        <a:ea typeface="Discover Sans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286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>
                          <a:latin typeface="Discover Sans" pitchFamily="2" charset="0"/>
                          <a:ea typeface="Discover Sans" pitchFamily="2" charset="0"/>
                          <a:hlinkClick r:id="rId4"/>
                        </a:rPr>
                        <a:t>Continuous Delivery Yammer Group</a:t>
                      </a:r>
                      <a:endParaRPr lang="en-US" sz="900">
                        <a:latin typeface="Discover Sans" pitchFamily="2" charset="0"/>
                        <a:ea typeface="Discover Sans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err="1">
                          <a:latin typeface="Discover Sans"/>
                          <a:ea typeface="Discover Sans" pitchFamily="2" charset="0"/>
                          <a:hlinkClick r:id="rId16"/>
                        </a:rPr>
                        <a:t>Huduku</a:t>
                      </a:r>
                      <a:r>
                        <a:rPr lang="en-US" sz="900">
                          <a:latin typeface="Discover Sans"/>
                          <a:ea typeface="Discover Sans" pitchFamily="2" charset="0"/>
                          <a:hlinkClick r:id="rId16"/>
                        </a:rPr>
                        <a:t> FAQs</a:t>
                      </a:r>
                      <a:endParaRPr lang="en-US" sz="900">
                        <a:latin typeface="Discover Sans"/>
                        <a:ea typeface="Discover Sans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sz="100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9366170"/>
                  </a:ext>
                </a:extLst>
              </a:tr>
              <a:tr h="1141051"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latin typeface="Discover Sans" pitchFamily="2" charset="0"/>
                          <a:ea typeface="Discover Sans" pitchFamily="2" charset="0"/>
                        </a:rPr>
                        <a:t>Artifactory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latin typeface="Discover Sans" pitchFamily="2" charset="0"/>
                          <a:ea typeface="Discover Sans" pitchFamily="2" charset="0"/>
                        </a:rPr>
                        <a:t>Artifact repository manager that will be used as a private Docker registry to store and manage container images.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>
                          <a:latin typeface="Discover Sans" pitchFamily="2" charset="0"/>
                          <a:ea typeface="Discover Sans" pitchFamily="2" charset="0"/>
                          <a:hlinkClick r:id="rId17"/>
                        </a:rPr>
                        <a:t>Artifactory Resources</a:t>
                      </a:r>
                      <a:endParaRPr lang="en-US" sz="900">
                        <a:latin typeface="Discover Sans" pitchFamily="2" charset="0"/>
                        <a:ea typeface="Discover Sans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>
                          <a:latin typeface="Discover Sans" pitchFamily="2" charset="0"/>
                          <a:ea typeface="Discover Sans" pitchFamily="2" charset="0"/>
                          <a:hlinkClick r:id="rId4"/>
                        </a:rPr>
                        <a:t>Continuous Delivery Yammer Group</a:t>
                      </a:r>
                      <a:endParaRPr lang="en-US" sz="900">
                        <a:latin typeface="Discover Sans" pitchFamily="2" charset="0"/>
                        <a:ea typeface="Discover Sans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>
                          <a:latin typeface="Discover Sans" pitchFamily="2" charset="0"/>
                          <a:ea typeface="Discover Sans" pitchFamily="2" charset="0"/>
                          <a:hlinkClick r:id="rId18"/>
                        </a:rPr>
                        <a:t>Artifactory Support Guide</a:t>
                      </a:r>
                      <a:endParaRPr lang="en-US" sz="900">
                        <a:latin typeface="Discover Sans" pitchFamily="2" charset="0"/>
                        <a:ea typeface="Discover Sans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sz="900">
                        <a:latin typeface="Discover Sans" pitchFamily="2" charset="0"/>
                        <a:ea typeface="Discover Sans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8858710"/>
                  </a:ext>
                </a:extLst>
              </a:tr>
            </a:tbl>
          </a:graphicData>
        </a:graphic>
      </p:graphicFrame>
      <p:pic>
        <p:nvPicPr>
          <p:cNvPr id="3" name="Picture 4">
            <a:extLst>
              <a:ext uri="{FF2B5EF4-FFF2-40B4-BE49-F238E27FC236}">
                <a16:creationId xmlns:a16="http://schemas.microsoft.com/office/drawing/2014/main" id="{174173CE-E956-B8B1-F40B-F49E2019AC23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109073" y="258063"/>
            <a:ext cx="596900" cy="532826"/>
          </a:xfrm>
          <a:prstGeom prst="rect">
            <a:avLst/>
          </a:prstGeom>
        </p:spPr>
      </p:pic>
      <p:pic>
        <p:nvPicPr>
          <p:cNvPr id="6" name="Picture 5" descr="Graphical user interface, Teams&#10;&#10;Description automatically generated">
            <a:extLst>
              <a:ext uri="{FF2B5EF4-FFF2-40B4-BE49-F238E27FC236}">
                <a16:creationId xmlns:a16="http://schemas.microsoft.com/office/drawing/2014/main" id="{112BCD2F-A0FC-7B17-9C1B-E0362A213722}"/>
              </a:ext>
            </a:extLst>
          </p:cNvPr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800"/>
          <a:stretch/>
        </p:blipFill>
        <p:spPr>
          <a:xfrm>
            <a:off x="9066771" y="288279"/>
            <a:ext cx="596900" cy="630200"/>
          </a:xfrm>
          <a:prstGeom prst="rect">
            <a:avLst/>
          </a:prstGeom>
        </p:spPr>
      </p:pic>
      <p:pic>
        <p:nvPicPr>
          <p:cNvPr id="8" name="Picture 7" descr="Graphical user interface, application, Teams&#10;&#10;Description automatically generated">
            <a:extLst>
              <a:ext uri="{FF2B5EF4-FFF2-40B4-BE49-F238E27FC236}">
                <a16:creationId xmlns:a16="http://schemas.microsoft.com/office/drawing/2014/main" id="{891646DE-FD59-7AF4-1200-C1D2811BAEB8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4300" y="234086"/>
            <a:ext cx="685093" cy="628854"/>
          </a:xfrm>
          <a:prstGeom prst="rect">
            <a:avLst/>
          </a:prstGeom>
        </p:spPr>
      </p:pic>
      <p:pic>
        <p:nvPicPr>
          <p:cNvPr id="10" name="Picture 9" descr="Graphical user interface, application, Teams&#10;&#10;Description automatically generated">
            <a:extLst>
              <a:ext uri="{FF2B5EF4-FFF2-40B4-BE49-F238E27FC236}">
                <a16:creationId xmlns:a16="http://schemas.microsoft.com/office/drawing/2014/main" id="{B36FF26F-8D30-E14B-5333-4BBF472AE797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8670" y="330114"/>
            <a:ext cx="547227" cy="532826"/>
          </a:xfrm>
          <a:prstGeom prst="rect">
            <a:avLst/>
          </a:prstGeom>
        </p:spPr>
      </p:pic>
      <p:pic>
        <p:nvPicPr>
          <p:cNvPr id="12" name="Picture 11" descr="Icon&#10;&#10;Description automatically generated">
            <a:extLst>
              <a:ext uri="{FF2B5EF4-FFF2-40B4-BE49-F238E27FC236}">
                <a16:creationId xmlns:a16="http://schemas.microsoft.com/office/drawing/2014/main" id="{C58117AF-C6CE-DF5E-FDFF-FB5B55A673F5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0255" y="1387734"/>
            <a:ext cx="314981" cy="304303"/>
          </a:xfrm>
          <a:prstGeom prst="rect">
            <a:avLst/>
          </a:prstGeom>
        </p:spPr>
      </p:pic>
      <p:pic>
        <p:nvPicPr>
          <p:cNvPr id="14" name="Picture 13" descr="Graphical user interface, application, Teams&#10;&#10;Description automatically generated">
            <a:extLst>
              <a:ext uri="{FF2B5EF4-FFF2-40B4-BE49-F238E27FC236}">
                <a16:creationId xmlns:a16="http://schemas.microsoft.com/office/drawing/2014/main" id="{1339FE93-EDD3-0980-3196-FDC37C677A78}"/>
              </a:ext>
            </a:extLst>
          </p:cNvPr>
          <p:cNvPicPr>
            <a:picLocks noChangeAspect="1"/>
          </p:cNvPicPr>
          <p:nvPr/>
        </p:nvPicPr>
        <p:blipFill rotWithShape="1"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50" r="10025"/>
          <a:stretch/>
        </p:blipFill>
        <p:spPr>
          <a:xfrm>
            <a:off x="6600255" y="1770371"/>
            <a:ext cx="314982" cy="324497"/>
          </a:xfrm>
          <a:prstGeom prst="rect">
            <a:avLst/>
          </a:prstGeom>
        </p:spPr>
      </p:pic>
      <p:pic>
        <p:nvPicPr>
          <p:cNvPr id="9" name="Picture 8" descr="Icon&#10;&#10;Description automatically generated">
            <a:extLst>
              <a:ext uri="{FF2B5EF4-FFF2-40B4-BE49-F238E27FC236}">
                <a16:creationId xmlns:a16="http://schemas.microsoft.com/office/drawing/2014/main" id="{DF13DC33-411E-9F0E-CCE6-CA3A31995CEE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0255" y="2490461"/>
            <a:ext cx="314981" cy="304303"/>
          </a:xfrm>
          <a:prstGeom prst="rect">
            <a:avLst/>
          </a:prstGeom>
        </p:spPr>
      </p:pic>
      <p:pic>
        <p:nvPicPr>
          <p:cNvPr id="11" name="Picture 10" descr="Graphical user interface, application, Teams&#10;&#10;Description automatically generated">
            <a:extLst>
              <a:ext uri="{FF2B5EF4-FFF2-40B4-BE49-F238E27FC236}">
                <a16:creationId xmlns:a16="http://schemas.microsoft.com/office/drawing/2014/main" id="{C6DE7408-C1FB-F079-4B5F-512899CB911B}"/>
              </a:ext>
            </a:extLst>
          </p:cNvPr>
          <p:cNvPicPr>
            <a:picLocks noChangeAspect="1"/>
          </p:cNvPicPr>
          <p:nvPr/>
        </p:nvPicPr>
        <p:blipFill rotWithShape="1"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50" r="10025"/>
          <a:stretch/>
        </p:blipFill>
        <p:spPr>
          <a:xfrm>
            <a:off x="6600255" y="2849628"/>
            <a:ext cx="314982" cy="324497"/>
          </a:xfrm>
          <a:prstGeom prst="rect">
            <a:avLst/>
          </a:prstGeom>
        </p:spPr>
      </p:pic>
      <p:pic>
        <p:nvPicPr>
          <p:cNvPr id="13" name="Picture 12" descr="Icon&#10;&#10;Description automatically generated">
            <a:extLst>
              <a:ext uri="{FF2B5EF4-FFF2-40B4-BE49-F238E27FC236}">
                <a16:creationId xmlns:a16="http://schemas.microsoft.com/office/drawing/2014/main" id="{0761954A-89B4-6413-42AC-B21071D41BA1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0255" y="3429000"/>
            <a:ext cx="314981" cy="304303"/>
          </a:xfrm>
          <a:prstGeom prst="rect">
            <a:avLst/>
          </a:prstGeom>
        </p:spPr>
      </p:pic>
      <p:pic>
        <p:nvPicPr>
          <p:cNvPr id="15" name="Picture 14" descr="Graphical user interface, application, Teams&#10;&#10;Description automatically generated">
            <a:extLst>
              <a:ext uri="{FF2B5EF4-FFF2-40B4-BE49-F238E27FC236}">
                <a16:creationId xmlns:a16="http://schemas.microsoft.com/office/drawing/2014/main" id="{4EBF86BB-463C-4F5F-D36A-24022386F47E}"/>
              </a:ext>
            </a:extLst>
          </p:cNvPr>
          <p:cNvPicPr>
            <a:picLocks noChangeAspect="1"/>
          </p:cNvPicPr>
          <p:nvPr/>
        </p:nvPicPr>
        <p:blipFill rotWithShape="1"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50" r="10025"/>
          <a:stretch/>
        </p:blipFill>
        <p:spPr>
          <a:xfrm>
            <a:off x="6600255" y="3766636"/>
            <a:ext cx="314982" cy="324497"/>
          </a:xfrm>
          <a:prstGeom prst="rect">
            <a:avLst/>
          </a:prstGeom>
        </p:spPr>
      </p:pic>
      <p:pic>
        <p:nvPicPr>
          <p:cNvPr id="16" name="Picture 15" descr="Icon&#10;&#10;Description automatically generated">
            <a:extLst>
              <a:ext uri="{FF2B5EF4-FFF2-40B4-BE49-F238E27FC236}">
                <a16:creationId xmlns:a16="http://schemas.microsoft.com/office/drawing/2014/main" id="{0E736C2F-E0F4-E037-3099-67CAEB98DA96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0255" y="4469512"/>
            <a:ext cx="314981" cy="304303"/>
          </a:xfrm>
          <a:prstGeom prst="rect">
            <a:avLst/>
          </a:prstGeom>
        </p:spPr>
      </p:pic>
      <p:pic>
        <p:nvPicPr>
          <p:cNvPr id="17" name="Picture 16" descr="Icon&#10;&#10;Description automatically generated">
            <a:extLst>
              <a:ext uri="{FF2B5EF4-FFF2-40B4-BE49-F238E27FC236}">
                <a16:creationId xmlns:a16="http://schemas.microsoft.com/office/drawing/2014/main" id="{6D4047C5-5B45-CDE3-BB75-E193A3F39894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0255" y="5470266"/>
            <a:ext cx="314981" cy="304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958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1F57DCF3-4919-AECA-12A9-F1DCC68A09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677998"/>
              </p:ext>
            </p:extLst>
          </p:nvPr>
        </p:nvGraphicFramePr>
        <p:xfrm>
          <a:off x="523982" y="524197"/>
          <a:ext cx="11201873" cy="41154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3447">
                  <a:extLst>
                    <a:ext uri="{9D8B030D-6E8A-4147-A177-3AD203B41FA5}">
                      <a16:colId xmlns:a16="http://schemas.microsoft.com/office/drawing/2014/main" val="513794599"/>
                    </a:ext>
                  </a:extLst>
                </a:gridCol>
                <a:gridCol w="1955723">
                  <a:extLst>
                    <a:ext uri="{9D8B030D-6E8A-4147-A177-3AD203B41FA5}">
                      <a16:colId xmlns:a16="http://schemas.microsoft.com/office/drawing/2014/main" val="1925627750"/>
                    </a:ext>
                  </a:extLst>
                </a:gridCol>
                <a:gridCol w="1655085">
                  <a:extLst>
                    <a:ext uri="{9D8B030D-6E8A-4147-A177-3AD203B41FA5}">
                      <a16:colId xmlns:a16="http://schemas.microsoft.com/office/drawing/2014/main" val="3962688613"/>
                    </a:ext>
                  </a:extLst>
                </a:gridCol>
                <a:gridCol w="1934973">
                  <a:extLst>
                    <a:ext uri="{9D8B030D-6E8A-4147-A177-3AD203B41FA5}">
                      <a16:colId xmlns:a16="http://schemas.microsoft.com/office/drawing/2014/main" val="3837542045"/>
                    </a:ext>
                  </a:extLst>
                </a:gridCol>
                <a:gridCol w="2211881">
                  <a:extLst>
                    <a:ext uri="{9D8B030D-6E8A-4147-A177-3AD203B41FA5}">
                      <a16:colId xmlns:a16="http://schemas.microsoft.com/office/drawing/2014/main" val="843884855"/>
                    </a:ext>
                  </a:extLst>
                </a:gridCol>
                <a:gridCol w="2190764">
                  <a:extLst>
                    <a:ext uri="{9D8B030D-6E8A-4147-A177-3AD203B41FA5}">
                      <a16:colId xmlns:a16="http://schemas.microsoft.com/office/drawing/2014/main" val="2648964239"/>
                    </a:ext>
                  </a:extLst>
                </a:gridCol>
              </a:tblGrid>
              <a:tr h="1112845"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Discover Sans" pitchFamily="2" charset="0"/>
                          <a:ea typeface="Discover Sans" pitchFamily="2" charset="0"/>
                        </a:rPr>
                        <a:t>System / Tool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Discover Sans" pitchFamily="2" charset="0"/>
                          <a:ea typeface="Discover Sans" pitchFamily="2" charset="0"/>
                        </a:rPr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900">
                        <a:solidFill>
                          <a:schemeClr val="tx1"/>
                        </a:solidFill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lvl="0" algn="ctr">
                        <a:buNone/>
                      </a:pPr>
                      <a:endParaRPr lang="en-US" sz="900">
                        <a:solidFill>
                          <a:schemeClr val="tx1"/>
                        </a:solidFill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lvl="0" algn="ctr">
                        <a:buNone/>
                      </a:pPr>
                      <a:endParaRPr lang="en-US" sz="900">
                        <a:solidFill>
                          <a:schemeClr val="tx1"/>
                        </a:solidFill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lvl="0" algn="ctr">
                        <a:buNone/>
                      </a:pPr>
                      <a:endParaRPr lang="en-US" sz="900">
                        <a:solidFill>
                          <a:schemeClr val="tx1"/>
                        </a:solidFill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lvl="0" algn="ctr">
                        <a:buNone/>
                      </a:pPr>
                      <a:endParaRPr lang="en-US" sz="900">
                        <a:solidFill>
                          <a:schemeClr val="tx1"/>
                        </a:solidFill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900">
                          <a:solidFill>
                            <a:schemeClr val="tx1"/>
                          </a:solidFill>
                          <a:latin typeface="Discover Sans" pitchFamily="2" charset="0"/>
                          <a:ea typeface="Discover Sans" pitchFamily="2" charset="0"/>
                        </a:rPr>
                        <a:t>General Information &amp; Overviews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900">
                        <a:solidFill>
                          <a:schemeClr val="tx1"/>
                        </a:solidFill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lvl="0" algn="ctr">
                        <a:buNone/>
                      </a:pPr>
                      <a:endParaRPr lang="en-US" sz="900">
                        <a:solidFill>
                          <a:schemeClr val="tx1"/>
                        </a:solidFill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lvl="0" algn="ctr">
                        <a:buNone/>
                      </a:pPr>
                      <a:endParaRPr lang="en-US" sz="900">
                        <a:solidFill>
                          <a:schemeClr val="tx1"/>
                        </a:solidFill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lvl="0" algn="ctr">
                        <a:buNone/>
                      </a:pPr>
                      <a:endParaRPr lang="en-US" sz="900">
                        <a:solidFill>
                          <a:schemeClr val="tx1"/>
                        </a:solidFill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lvl="0" algn="ctr">
                        <a:buNone/>
                      </a:pPr>
                      <a:endParaRPr lang="en-US" sz="900">
                        <a:solidFill>
                          <a:schemeClr val="tx1"/>
                        </a:solidFill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900">
                          <a:solidFill>
                            <a:schemeClr val="tx1"/>
                          </a:solidFill>
                          <a:latin typeface="Discover Sans" pitchFamily="2" charset="0"/>
                          <a:ea typeface="Discover Sans" pitchFamily="2" charset="0"/>
                        </a:rPr>
                        <a:t>I need to engage on a general question</a:t>
                      </a:r>
                      <a:endParaRPr lang="en-US" sz="900">
                        <a:latin typeface="Discover Sans" pitchFamily="2" charset="0"/>
                        <a:ea typeface="Discover Sans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900">
                        <a:solidFill>
                          <a:schemeClr val="tx1"/>
                        </a:solidFill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lvl="0" algn="ctr">
                        <a:buNone/>
                      </a:pPr>
                      <a:endParaRPr lang="en-US" sz="900">
                        <a:solidFill>
                          <a:schemeClr val="tx1"/>
                        </a:solidFill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lvl="0" algn="ctr">
                        <a:buNone/>
                      </a:pPr>
                      <a:endParaRPr lang="en-US" sz="900">
                        <a:solidFill>
                          <a:schemeClr val="tx1"/>
                        </a:solidFill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lvl="0" algn="ctr">
                        <a:buNone/>
                      </a:pPr>
                      <a:endParaRPr lang="en-US" sz="900">
                        <a:solidFill>
                          <a:schemeClr val="tx1"/>
                        </a:solidFill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lvl="0" algn="ctr">
                        <a:buNone/>
                      </a:pPr>
                      <a:endParaRPr lang="en-US" sz="900">
                        <a:solidFill>
                          <a:schemeClr val="tx1"/>
                        </a:solidFill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900">
                          <a:solidFill>
                            <a:schemeClr val="tx1"/>
                          </a:solidFill>
                          <a:latin typeface="Discover Sans" pitchFamily="2" charset="0"/>
                          <a:ea typeface="Discover Sans" pitchFamily="2" charset="0"/>
                        </a:rPr>
                        <a:t>I need prior solutions or support resources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900">
                        <a:solidFill>
                          <a:schemeClr val="tx1"/>
                        </a:solidFill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lvl="0" algn="ctr">
                        <a:buNone/>
                      </a:pPr>
                      <a:endParaRPr lang="en-US" sz="900">
                        <a:solidFill>
                          <a:schemeClr val="tx1"/>
                        </a:solidFill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lvl="0" algn="ctr">
                        <a:buNone/>
                      </a:pPr>
                      <a:endParaRPr lang="en-US" sz="900">
                        <a:solidFill>
                          <a:schemeClr val="tx1"/>
                        </a:solidFill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lvl="0" algn="ctr">
                        <a:buNone/>
                      </a:pPr>
                      <a:endParaRPr lang="en-US" sz="900">
                        <a:solidFill>
                          <a:schemeClr val="tx1"/>
                        </a:solidFill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lvl="0" algn="ctr">
                        <a:buNone/>
                      </a:pPr>
                      <a:endParaRPr lang="en-US" sz="900">
                        <a:solidFill>
                          <a:schemeClr val="tx1"/>
                        </a:solidFill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900">
                          <a:solidFill>
                            <a:schemeClr val="tx1"/>
                          </a:solidFill>
                          <a:latin typeface="Discover Sans" pitchFamily="2" charset="0"/>
                          <a:ea typeface="Discover Sans" pitchFamily="2" charset="0"/>
                        </a:rPr>
                        <a:t>Support Group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1637515"/>
                  </a:ext>
                </a:extLst>
              </a:tr>
              <a:tr h="990913"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latin typeface="Discover Sans" pitchFamily="2" charset="0"/>
                          <a:ea typeface="Discover Sans" pitchFamily="2" charset="0"/>
                        </a:rPr>
                        <a:t>OpenShift Container (OCP)</a:t>
                      </a:r>
                      <a:endParaRPr lang="en-US" sz="1000" b="1">
                        <a:latin typeface="Discover Sans"/>
                        <a:ea typeface="Discover Sans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latin typeface="Discover Sans" pitchFamily="2" charset="0"/>
                          <a:ea typeface="Discover Sans" pitchFamily="2" charset="0"/>
                        </a:rPr>
                        <a:t>Open source container management platform for Kubernetes.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>
                          <a:latin typeface="Discover Sans"/>
                          <a:ea typeface="Discover Sans" pitchFamily="2" charset="0"/>
                          <a:hlinkClick r:id="rId3"/>
                        </a:rPr>
                        <a:t>Tupperware Portal</a:t>
                      </a:r>
                      <a:endParaRPr lang="en-US" sz="900">
                        <a:latin typeface="Discover Sans"/>
                        <a:ea typeface="Discover Sans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28650" marR="0" lvl="1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>
                          <a:latin typeface="Discover Sans" pitchFamily="2" charset="0"/>
                          <a:ea typeface="Discover Sans" pitchFamily="2" charset="0"/>
                          <a:hlinkClick r:id="rId4"/>
                        </a:rPr>
                        <a:t>OCP Help – Community Driven MS Teams Channel</a:t>
                      </a:r>
                      <a:endParaRPr lang="en-US" sz="900"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marL="457200" marR="0" lvl="1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endParaRPr lang="en-US" sz="900"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marL="628650" marR="0" lvl="1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>
                          <a:latin typeface="Discover Sans" pitchFamily="2" charset="0"/>
                          <a:ea typeface="Discover Sans" pitchFamily="2" charset="0"/>
                          <a:hlinkClick r:id="rId5"/>
                        </a:rPr>
                        <a:t>Tupperware Office Hours – OpenShift Container Platform (OCP</a:t>
                      </a:r>
                      <a:r>
                        <a:rPr lang="en-US" sz="900">
                          <a:latin typeface="Discover Sans" pitchFamily="2" charset="0"/>
                          <a:ea typeface="Discover Sans" pitchFamily="2" charset="0"/>
                          <a:hlinkClick r:id="rId6"/>
                        </a:rPr>
                        <a:t>)</a:t>
                      </a:r>
                      <a:endParaRPr lang="en-US" sz="900"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marL="457200" marR="0" lvl="1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endParaRPr lang="en-US" sz="900"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marL="628650" marR="0" lvl="1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>
                          <a:latin typeface="Discover Sans" pitchFamily="2" charset="0"/>
                          <a:ea typeface="Discover Sans" pitchFamily="2" charset="0"/>
                          <a:hlinkClick r:id="rId7"/>
                        </a:rPr>
                        <a:t>OCP GitHub Issue for general questions or training</a:t>
                      </a:r>
                      <a:endParaRPr lang="en-US" sz="900">
                        <a:latin typeface="Discover Sans" pitchFamily="2" charset="0"/>
                        <a:ea typeface="Discover Sans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>
                          <a:latin typeface="Discover Sans" pitchFamily="2" charset="0"/>
                          <a:ea typeface="Discover Sans" pitchFamily="2" charset="0"/>
                          <a:hlinkClick r:id="rId8"/>
                        </a:rPr>
                        <a:t>OCP Issue Solutions Archive</a:t>
                      </a:r>
                      <a:endParaRPr lang="en-US" sz="900">
                        <a:latin typeface="Discover Sans" pitchFamily="2" charset="0"/>
                        <a:ea typeface="Discover Sans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457200" lvl="1" indent="0">
                        <a:buFont typeface="Arial" panose="020B0604020202020204" pitchFamily="34" charset="0"/>
                        <a:buNone/>
                      </a:pPr>
                      <a:endParaRPr lang="en-US" sz="900" b="1"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marL="0" lvl="0" indent="0">
                        <a:buFont typeface="Arial" panose="020B0604020202020204" pitchFamily="34" charset="0"/>
                        <a:buNone/>
                      </a:pPr>
                      <a:endParaRPr lang="en-US" sz="900"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marL="457200" lvl="1" indent="0">
                        <a:buFont typeface="Arial" panose="020B0604020202020204" pitchFamily="34" charset="0"/>
                        <a:buNone/>
                      </a:pPr>
                      <a:r>
                        <a:rPr lang="en-US" sz="900">
                          <a:latin typeface="Discover Sans" pitchFamily="2" charset="0"/>
                          <a:ea typeface="Discover Sans" pitchFamily="2" charset="0"/>
                        </a:rPr>
                        <a:t>Platform wide or large impacting development issue:</a:t>
                      </a: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>
                          <a:latin typeface="Discover Sans" pitchFamily="2" charset="0"/>
                          <a:ea typeface="Discover Sans" pitchFamily="2" charset="0"/>
                          <a:hlinkClick r:id="rId9"/>
                        </a:rPr>
                        <a:t>ServiceNow Incident. Assign to </a:t>
                      </a:r>
                      <a:r>
                        <a:rPr lang="en-US" sz="900" b="1">
                          <a:latin typeface="Discover Sans" pitchFamily="2" charset="0"/>
                          <a:ea typeface="Discover Sans" pitchFamily="2" charset="0"/>
                          <a:hlinkClick r:id="rId9"/>
                        </a:rPr>
                        <a:t>OCP Ops</a:t>
                      </a:r>
                      <a:r>
                        <a:rPr lang="en-US" sz="900">
                          <a:latin typeface="Discover Sans" pitchFamily="2" charset="0"/>
                          <a:ea typeface="Discover Sans" pitchFamily="2" charset="0"/>
                          <a:hlinkClick r:id="rId9"/>
                        </a:rPr>
                        <a:t>.</a:t>
                      </a:r>
                      <a:endParaRPr lang="en-US" sz="900" b="1"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marL="457200" lvl="1" indent="0">
                        <a:buFont typeface="Arial" panose="020B0604020202020204" pitchFamily="34" charset="0"/>
                        <a:buNone/>
                      </a:pPr>
                      <a:endParaRPr lang="en-US" sz="900"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marL="457200" lvl="1" indent="0">
                        <a:buFont typeface="Arial" panose="020B0604020202020204" pitchFamily="34" charset="0"/>
                        <a:buNone/>
                      </a:pPr>
                      <a:r>
                        <a:rPr lang="en-US" sz="900">
                          <a:latin typeface="Discover Sans" pitchFamily="2" charset="0"/>
                          <a:ea typeface="Discover Sans" pitchFamily="2" charset="0"/>
                        </a:rPr>
                        <a:t>Smaller impact development issue:</a:t>
                      </a: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>
                          <a:latin typeface="Discover Sans" pitchFamily="2" charset="0"/>
                          <a:ea typeface="Discover Sans" pitchFamily="2" charset="0"/>
                          <a:hlinkClick r:id="rId8"/>
                        </a:rPr>
                        <a:t>Create issue in GitHub </a:t>
                      </a:r>
                      <a:r>
                        <a:rPr lang="en-US" sz="900">
                          <a:latin typeface="Discover Sans" pitchFamily="2" charset="0"/>
                          <a:ea typeface="Discover Sans" pitchFamily="2" charset="0"/>
                        </a:rPr>
                        <a:t>for </a:t>
                      </a:r>
                      <a:r>
                        <a:rPr lang="en-US" sz="900" b="1">
                          <a:latin typeface="Discover Sans" pitchFamily="2" charset="0"/>
                          <a:ea typeface="Discover Sans" pitchFamily="2" charset="0"/>
                        </a:rPr>
                        <a:t>OCP Ops</a:t>
                      </a:r>
                    </a:p>
                    <a:p>
                      <a:pPr marL="457200" lvl="1" indent="0">
                        <a:buFont typeface="Arial" panose="020B0604020202020204" pitchFamily="34" charset="0"/>
                        <a:buNone/>
                      </a:pPr>
                      <a:endParaRPr lang="en-US" sz="900">
                        <a:latin typeface="Discover Sans" pitchFamily="2" charset="0"/>
                        <a:ea typeface="Discover Sans" pitchFamily="2" charset="0"/>
                        <a:hlinkClick r:id="rId10"/>
                      </a:endParaRP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>
                          <a:latin typeface="Discover Sans" pitchFamily="2" charset="0"/>
                          <a:ea typeface="Discover Sans" pitchFamily="2" charset="0"/>
                          <a:hlinkClick r:id="rId11"/>
                        </a:rPr>
                        <a:t>Development and Production SLAs</a:t>
                      </a:r>
                      <a:endParaRPr lang="en-US" sz="900">
                        <a:latin typeface="Discover Sans" pitchFamily="2" charset="0"/>
                        <a:ea typeface="Discover Sans" pitchFamily="2" charset="0"/>
                        <a:hlinkClick r:id="rId1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7786150"/>
                  </a:ext>
                </a:extLst>
              </a:tr>
              <a:tr h="990913"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latin typeface="Discover Sans"/>
                          <a:ea typeface="Discover Sans" pitchFamily="2" charset="0"/>
                        </a:rPr>
                        <a:t>Pivotal Cloud Foundry (PCF)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latin typeface="Discover Sans" pitchFamily="2" charset="0"/>
                          <a:ea typeface="Discover Sans" pitchFamily="2" charset="0"/>
                        </a:rPr>
                        <a:t>Open source, multi-cloud application platform as a service.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>
                          <a:latin typeface="Discover Sans"/>
                          <a:ea typeface="Discover Sans" pitchFamily="2" charset="0"/>
                          <a:hlinkClick r:id="rId12"/>
                        </a:rPr>
                        <a:t>PCF Useful Links</a:t>
                      </a:r>
                      <a:endParaRPr lang="en-US" sz="900">
                        <a:latin typeface="Discover Sans"/>
                        <a:ea typeface="Discover Sans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28650" marR="0" lvl="1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>
                          <a:latin typeface="Discover Sans" pitchFamily="2" charset="0"/>
                          <a:ea typeface="Discover Sans" pitchFamily="2" charset="0"/>
                          <a:hlinkClick r:id="rId13"/>
                        </a:rPr>
                        <a:t>PCF Help MS Teams Channel</a:t>
                      </a:r>
                      <a:endParaRPr lang="en-US" sz="900">
                        <a:latin typeface="Discover Sans" pitchFamily="2" charset="0"/>
                        <a:ea typeface="Discover Sans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>
                          <a:latin typeface="Discover Sans" pitchFamily="2" charset="0"/>
                          <a:ea typeface="Discover Sans" pitchFamily="2" charset="0"/>
                          <a:hlinkClick r:id="rId14"/>
                        </a:rPr>
                        <a:t>PCF Issue Solutions Archive</a:t>
                      </a:r>
                      <a:endParaRPr lang="en-US" sz="900">
                        <a:latin typeface="Discover Sans" pitchFamily="2" charset="0"/>
                        <a:ea typeface="Discover Sans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>
                          <a:latin typeface="Discover Sans" pitchFamily="2" charset="0"/>
                          <a:ea typeface="Discover Sans" pitchFamily="2" charset="0"/>
                          <a:hlinkClick r:id="rId9"/>
                        </a:rPr>
                        <a:t>ServiceNow Incident. Assign to </a:t>
                      </a:r>
                      <a:r>
                        <a:rPr lang="en-US" sz="900" b="1">
                          <a:latin typeface="Discover Sans" pitchFamily="2" charset="0"/>
                          <a:ea typeface="Discover Sans" pitchFamily="2" charset="0"/>
                          <a:hlinkClick r:id="rId9"/>
                        </a:rPr>
                        <a:t>Cloud Application Services</a:t>
                      </a:r>
                      <a:r>
                        <a:rPr lang="en-US" sz="900">
                          <a:latin typeface="Discover Sans" pitchFamily="2" charset="0"/>
                          <a:ea typeface="Discover Sans" pitchFamily="2" charset="0"/>
                          <a:hlinkClick r:id="rId9"/>
                        </a:rPr>
                        <a:t>.</a:t>
                      </a:r>
                      <a:endParaRPr lang="en-US" sz="900"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endParaRPr lang="en-US" sz="900">
                        <a:latin typeface="Discover Sans" pitchFamily="2" charset="0"/>
                        <a:ea typeface="Discover Sans" pitchFamily="2" charset="0"/>
                        <a:hlinkClick r:id="rId10"/>
                      </a:endParaRP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>
                          <a:latin typeface="Discover Sans" pitchFamily="2" charset="0"/>
                          <a:ea typeface="Discover Sans" pitchFamily="2" charset="0"/>
                          <a:hlinkClick r:id="rId15"/>
                        </a:rPr>
                        <a:t>Support SLAs</a:t>
                      </a:r>
                      <a:endParaRPr lang="en-US" sz="900">
                        <a:latin typeface="Discover Sans" pitchFamily="2" charset="0"/>
                        <a:ea typeface="Discover Sans" pitchFamily="2" charset="0"/>
                        <a:hlinkClick r:id="rId1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3931466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D8390DCE-3F30-212E-15B0-F0F7C58EEC72}"/>
              </a:ext>
            </a:extLst>
          </p:cNvPr>
          <p:cNvSpPr txBox="1"/>
          <p:nvPr/>
        </p:nvSpPr>
        <p:spPr>
          <a:xfrm>
            <a:off x="597540" y="154865"/>
            <a:ext cx="898677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>
                <a:solidFill>
                  <a:srgbClr val="ED7D31"/>
                </a:solidFill>
                <a:latin typeface="Discover Sans" pitchFamily="2" charset="0"/>
                <a:ea typeface="Discover Sans" pitchFamily="2" charset="0"/>
              </a:rPr>
              <a:t>Platforms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Discover Sans" pitchFamily="2" charset="0"/>
              <a:ea typeface="Discover Sans" pitchFamily="2" charset="0"/>
              <a:cs typeface="+mn-cs"/>
            </a:endParaRP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174173CE-E956-B8B1-F40B-F49E2019AC23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106679" y="627116"/>
            <a:ext cx="596900" cy="532826"/>
          </a:xfrm>
          <a:prstGeom prst="rect">
            <a:avLst/>
          </a:prstGeom>
        </p:spPr>
      </p:pic>
      <p:pic>
        <p:nvPicPr>
          <p:cNvPr id="6" name="Picture 5" descr="Graphical user interface, Teams&#10;&#10;Description automatically generated">
            <a:extLst>
              <a:ext uri="{FF2B5EF4-FFF2-40B4-BE49-F238E27FC236}">
                <a16:creationId xmlns:a16="http://schemas.microsoft.com/office/drawing/2014/main" id="{112BCD2F-A0FC-7B17-9C1B-E0362A213722}"/>
              </a:ext>
            </a:extLst>
          </p:cNvPr>
          <p:cNvPicPr>
            <a:picLocks noChangeAspect="1"/>
          </p:cNvPicPr>
          <p:nvPr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800"/>
          <a:stretch/>
        </p:blipFill>
        <p:spPr>
          <a:xfrm>
            <a:off x="8175709" y="616513"/>
            <a:ext cx="596900" cy="630200"/>
          </a:xfrm>
          <a:prstGeom prst="rect">
            <a:avLst/>
          </a:prstGeom>
        </p:spPr>
      </p:pic>
      <p:pic>
        <p:nvPicPr>
          <p:cNvPr id="8" name="Picture 7" descr="Graphical user interface, application, Teams&#10;&#10;Description automatically generated">
            <a:extLst>
              <a:ext uri="{FF2B5EF4-FFF2-40B4-BE49-F238E27FC236}">
                <a16:creationId xmlns:a16="http://schemas.microsoft.com/office/drawing/2014/main" id="{891646DE-FD59-7AF4-1200-C1D2811BAEB8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8101" y="582232"/>
            <a:ext cx="685093" cy="628854"/>
          </a:xfrm>
          <a:prstGeom prst="rect">
            <a:avLst/>
          </a:prstGeom>
        </p:spPr>
      </p:pic>
      <p:pic>
        <p:nvPicPr>
          <p:cNvPr id="10" name="Picture 9" descr="Graphical user interface, application, Teams&#10;&#10;Description automatically generated">
            <a:extLst>
              <a:ext uri="{FF2B5EF4-FFF2-40B4-BE49-F238E27FC236}">
                <a16:creationId xmlns:a16="http://schemas.microsoft.com/office/drawing/2014/main" id="{B36FF26F-8D30-E14B-5333-4BBF472AE797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1683" y="607649"/>
            <a:ext cx="547227" cy="532826"/>
          </a:xfrm>
          <a:prstGeom prst="rect">
            <a:avLst/>
          </a:prstGeom>
        </p:spPr>
      </p:pic>
      <p:pic>
        <p:nvPicPr>
          <p:cNvPr id="21" name="Picture 20" descr="Graphical user interface, application, Teams&#10;&#10;Description automatically generated">
            <a:extLst>
              <a:ext uri="{FF2B5EF4-FFF2-40B4-BE49-F238E27FC236}">
                <a16:creationId xmlns:a16="http://schemas.microsoft.com/office/drawing/2014/main" id="{51AC00F0-D594-E1A8-1B74-91490E3306FC}"/>
              </a:ext>
            </a:extLst>
          </p:cNvPr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50" r="10025"/>
          <a:stretch/>
        </p:blipFill>
        <p:spPr>
          <a:xfrm>
            <a:off x="5731317" y="1651946"/>
            <a:ext cx="314982" cy="324497"/>
          </a:xfrm>
          <a:prstGeom prst="rect">
            <a:avLst/>
          </a:prstGeom>
        </p:spPr>
      </p:pic>
      <p:pic>
        <p:nvPicPr>
          <p:cNvPr id="22" name="Picture 21" descr="Graphical user interface, application, Teams&#10;&#10;Description automatically generated">
            <a:extLst>
              <a:ext uri="{FF2B5EF4-FFF2-40B4-BE49-F238E27FC236}">
                <a16:creationId xmlns:a16="http://schemas.microsoft.com/office/drawing/2014/main" id="{9DEA1D90-CE91-215B-1408-F63373F7903B}"/>
              </a:ext>
            </a:extLst>
          </p:cNvPr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50" r="10025"/>
          <a:stretch/>
        </p:blipFill>
        <p:spPr>
          <a:xfrm>
            <a:off x="5731317" y="2058230"/>
            <a:ext cx="314982" cy="324497"/>
          </a:xfrm>
          <a:prstGeom prst="rect">
            <a:avLst/>
          </a:prstGeom>
        </p:spPr>
      </p:pic>
      <p:pic>
        <p:nvPicPr>
          <p:cNvPr id="12" name="Picture 11" descr="Icon&#10;&#10;Description automatically generated">
            <a:extLst>
              <a:ext uri="{FF2B5EF4-FFF2-40B4-BE49-F238E27FC236}">
                <a16:creationId xmlns:a16="http://schemas.microsoft.com/office/drawing/2014/main" id="{750D2896-7BD1-2C3D-E996-B0EF4EF10DF8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208" y="1895981"/>
            <a:ext cx="344778" cy="324497"/>
          </a:xfrm>
          <a:prstGeom prst="rect">
            <a:avLst/>
          </a:prstGeom>
        </p:spPr>
      </p:pic>
      <p:pic>
        <p:nvPicPr>
          <p:cNvPr id="13" name="Picture 12" descr="Graphical user interface, application, Teams&#10;&#10;Description automatically generated">
            <a:extLst>
              <a:ext uri="{FF2B5EF4-FFF2-40B4-BE49-F238E27FC236}">
                <a16:creationId xmlns:a16="http://schemas.microsoft.com/office/drawing/2014/main" id="{14D564CB-655B-8349-DEFE-0E373301BC0F}"/>
              </a:ext>
            </a:extLst>
          </p:cNvPr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50" r="10025"/>
          <a:stretch/>
        </p:blipFill>
        <p:spPr>
          <a:xfrm>
            <a:off x="5731317" y="3802830"/>
            <a:ext cx="314982" cy="324497"/>
          </a:xfrm>
          <a:prstGeom prst="rect">
            <a:avLst/>
          </a:prstGeom>
        </p:spPr>
      </p:pic>
      <p:pic>
        <p:nvPicPr>
          <p:cNvPr id="15" name="Picture 14" descr="Icon&#10;&#10;Description automatically generated">
            <a:extLst>
              <a:ext uri="{FF2B5EF4-FFF2-40B4-BE49-F238E27FC236}">
                <a16:creationId xmlns:a16="http://schemas.microsoft.com/office/drawing/2014/main" id="{2A58B931-121F-C7A1-31AA-B272F51AE828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9890" y="3802830"/>
            <a:ext cx="344778" cy="324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5524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1F57DCF3-4919-AECA-12A9-F1DCC68A09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3592223"/>
              </p:ext>
            </p:extLst>
          </p:nvPr>
        </p:nvGraphicFramePr>
        <p:xfrm>
          <a:off x="667992" y="524197"/>
          <a:ext cx="11259879" cy="52276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9673">
                  <a:extLst>
                    <a:ext uri="{9D8B030D-6E8A-4147-A177-3AD203B41FA5}">
                      <a16:colId xmlns:a16="http://schemas.microsoft.com/office/drawing/2014/main" val="513794599"/>
                    </a:ext>
                  </a:extLst>
                </a:gridCol>
                <a:gridCol w="1977503">
                  <a:extLst>
                    <a:ext uri="{9D8B030D-6E8A-4147-A177-3AD203B41FA5}">
                      <a16:colId xmlns:a16="http://schemas.microsoft.com/office/drawing/2014/main" val="1925627750"/>
                    </a:ext>
                  </a:extLst>
                </a:gridCol>
                <a:gridCol w="1655085">
                  <a:extLst>
                    <a:ext uri="{9D8B030D-6E8A-4147-A177-3AD203B41FA5}">
                      <a16:colId xmlns:a16="http://schemas.microsoft.com/office/drawing/2014/main" val="3962688613"/>
                    </a:ext>
                  </a:extLst>
                </a:gridCol>
                <a:gridCol w="1934973">
                  <a:extLst>
                    <a:ext uri="{9D8B030D-6E8A-4147-A177-3AD203B41FA5}">
                      <a16:colId xmlns:a16="http://schemas.microsoft.com/office/drawing/2014/main" val="3837542045"/>
                    </a:ext>
                  </a:extLst>
                </a:gridCol>
                <a:gridCol w="2211881">
                  <a:extLst>
                    <a:ext uri="{9D8B030D-6E8A-4147-A177-3AD203B41FA5}">
                      <a16:colId xmlns:a16="http://schemas.microsoft.com/office/drawing/2014/main" val="843884855"/>
                    </a:ext>
                  </a:extLst>
                </a:gridCol>
                <a:gridCol w="2190764">
                  <a:extLst>
                    <a:ext uri="{9D8B030D-6E8A-4147-A177-3AD203B41FA5}">
                      <a16:colId xmlns:a16="http://schemas.microsoft.com/office/drawing/2014/main" val="2648964239"/>
                    </a:ext>
                  </a:extLst>
                </a:gridCol>
              </a:tblGrid>
              <a:tr h="1112845"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Discover Sans" pitchFamily="2" charset="0"/>
                          <a:ea typeface="Discover Sans" pitchFamily="2" charset="0"/>
                        </a:rPr>
                        <a:t>System / Tool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Discover Sans" pitchFamily="2" charset="0"/>
                          <a:ea typeface="Discover Sans" pitchFamily="2" charset="0"/>
                        </a:rPr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900">
                        <a:solidFill>
                          <a:schemeClr val="tx1"/>
                        </a:solidFill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lvl="0" algn="ctr">
                        <a:buNone/>
                      </a:pPr>
                      <a:endParaRPr lang="en-US" sz="900">
                        <a:solidFill>
                          <a:schemeClr val="tx1"/>
                        </a:solidFill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lvl="0" algn="ctr">
                        <a:buNone/>
                      </a:pPr>
                      <a:endParaRPr lang="en-US" sz="900">
                        <a:solidFill>
                          <a:schemeClr val="tx1"/>
                        </a:solidFill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lvl="0" algn="ctr">
                        <a:buNone/>
                      </a:pPr>
                      <a:endParaRPr lang="en-US" sz="900">
                        <a:solidFill>
                          <a:schemeClr val="tx1"/>
                        </a:solidFill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lvl="0" algn="ctr">
                        <a:buNone/>
                      </a:pPr>
                      <a:endParaRPr lang="en-US" sz="900">
                        <a:solidFill>
                          <a:schemeClr val="tx1"/>
                        </a:solidFill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900">
                          <a:solidFill>
                            <a:schemeClr val="tx1"/>
                          </a:solidFill>
                          <a:latin typeface="Discover Sans" pitchFamily="2" charset="0"/>
                          <a:ea typeface="Discover Sans" pitchFamily="2" charset="0"/>
                        </a:rPr>
                        <a:t>General Information &amp; Overviews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900">
                        <a:solidFill>
                          <a:schemeClr val="tx1"/>
                        </a:solidFill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lvl="0" algn="ctr">
                        <a:buNone/>
                      </a:pPr>
                      <a:endParaRPr lang="en-US" sz="900">
                        <a:solidFill>
                          <a:schemeClr val="tx1"/>
                        </a:solidFill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lvl="0" algn="ctr">
                        <a:buNone/>
                      </a:pPr>
                      <a:endParaRPr lang="en-US" sz="900">
                        <a:solidFill>
                          <a:schemeClr val="tx1"/>
                        </a:solidFill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lvl="0" algn="ctr">
                        <a:buNone/>
                      </a:pPr>
                      <a:endParaRPr lang="en-US" sz="900">
                        <a:solidFill>
                          <a:schemeClr val="tx1"/>
                        </a:solidFill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lvl="0" algn="ctr">
                        <a:buNone/>
                      </a:pPr>
                      <a:endParaRPr lang="en-US" sz="900">
                        <a:solidFill>
                          <a:schemeClr val="tx1"/>
                        </a:solidFill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900">
                          <a:solidFill>
                            <a:schemeClr val="tx1"/>
                          </a:solidFill>
                          <a:latin typeface="Discover Sans" pitchFamily="2" charset="0"/>
                          <a:ea typeface="Discover Sans" pitchFamily="2" charset="0"/>
                        </a:rPr>
                        <a:t>I need to engage on a general question</a:t>
                      </a:r>
                      <a:endParaRPr lang="en-US" sz="900">
                        <a:latin typeface="Discover Sans" pitchFamily="2" charset="0"/>
                        <a:ea typeface="Discover Sans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900">
                        <a:solidFill>
                          <a:schemeClr val="tx1"/>
                        </a:solidFill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lvl="0" algn="ctr">
                        <a:buNone/>
                      </a:pPr>
                      <a:endParaRPr lang="en-US" sz="900">
                        <a:solidFill>
                          <a:schemeClr val="tx1"/>
                        </a:solidFill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lvl="0" algn="ctr">
                        <a:buNone/>
                      </a:pPr>
                      <a:endParaRPr lang="en-US" sz="900">
                        <a:solidFill>
                          <a:schemeClr val="tx1"/>
                        </a:solidFill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lvl="0" algn="ctr">
                        <a:buNone/>
                      </a:pPr>
                      <a:endParaRPr lang="en-US" sz="900">
                        <a:solidFill>
                          <a:schemeClr val="tx1"/>
                        </a:solidFill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lvl="0" algn="ctr">
                        <a:buNone/>
                      </a:pPr>
                      <a:endParaRPr lang="en-US" sz="900">
                        <a:solidFill>
                          <a:schemeClr val="tx1"/>
                        </a:solidFill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900">
                          <a:solidFill>
                            <a:schemeClr val="tx1"/>
                          </a:solidFill>
                          <a:latin typeface="Discover Sans" pitchFamily="2" charset="0"/>
                          <a:ea typeface="Discover Sans" pitchFamily="2" charset="0"/>
                        </a:rPr>
                        <a:t>I need prior solutions or support resources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900">
                        <a:solidFill>
                          <a:schemeClr val="tx1"/>
                        </a:solidFill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lvl="0" algn="ctr">
                        <a:buNone/>
                      </a:pPr>
                      <a:endParaRPr lang="en-US" sz="900">
                        <a:solidFill>
                          <a:schemeClr val="tx1"/>
                        </a:solidFill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lvl="0" algn="ctr">
                        <a:buNone/>
                      </a:pPr>
                      <a:endParaRPr lang="en-US" sz="900">
                        <a:solidFill>
                          <a:schemeClr val="tx1"/>
                        </a:solidFill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lvl="0" algn="ctr">
                        <a:buNone/>
                      </a:pPr>
                      <a:endParaRPr lang="en-US" sz="900">
                        <a:solidFill>
                          <a:schemeClr val="tx1"/>
                        </a:solidFill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lvl="0" algn="ctr">
                        <a:buNone/>
                      </a:pPr>
                      <a:endParaRPr lang="en-US" sz="900">
                        <a:solidFill>
                          <a:schemeClr val="tx1"/>
                        </a:solidFill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900">
                          <a:solidFill>
                            <a:schemeClr val="tx1"/>
                          </a:solidFill>
                          <a:latin typeface="Discover Sans" pitchFamily="2" charset="0"/>
                          <a:ea typeface="Discover Sans" pitchFamily="2" charset="0"/>
                        </a:rPr>
                        <a:t>Support Group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1637515"/>
                  </a:ext>
                </a:extLst>
              </a:tr>
              <a:tr h="913450"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latin typeface="Discover Sans" pitchFamily="2" charset="0"/>
                          <a:ea typeface="Discover Sans" pitchFamily="2" charset="0"/>
                        </a:rPr>
                        <a:t>Vault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>
                          <a:latin typeface="Discover Sans" pitchFamily="2" charset="0"/>
                          <a:ea typeface="Discover Sans" pitchFamily="2" charset="0"/>
                        </a:rPr>
                        <a:t>Tool for securely managing secrets and encrypting data in transit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lvl="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900">
                          <a:latin typeface="Discover Sans" pitchFamily="2" charset="0"/>
                          <a:ea typeface="Discover Sans" pitchFamily="2" charset="0"/>
                          <a:hlinkClick r:id="rId3"/>
                        </a:rPr>
                        <a:t>About Vault</a:t>
                      </a:r>
                      <a:endParaRPr lang="en-US" sz="900"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marL="0" lvl="0" indent="0" algn="l">
                        <a:buNone/>
                      </a:pPr>
                      <a:endParaRPr lang="en-US" sz="900">
                        <a:latin typeface="Discover Sans" pitchFamily="2" charset="0"/>
                        <a:ea typeface="Discover Sans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286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>
                          <a:latin typeface="Discover Sans" pitchFamily="2" charset="0"/>
                          <a:ea typeface="Discover Sans" pitchFamily="2" charset="0"/>
                          <a:hlinkClick r:id="rId4"/>
                        </a:rPr>
                        <a:t>Secrets Storage Support &amp; Collaboration MS Teams Channel</a:t>
                      </a:r>
                      <a:endParaRPr lang="en-US" sz="900"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marL="6286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900"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marL="6286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>
                          <a:latin typeface="Discover Sans" pitchFamily="2" charset="0"/>
                          <a:ea typeface="Discover Sans" pitchFamily="2" charset="0"/>
                          <a:hlinkClick r:id="rId5"/>
                        </a:rPr>
                        <a:t>Tupperware Office Hours – OpenShift Container Platform (OCP) </a:t>
                      </a:r>
                      <a:r>
                        <a:rPr lang="en-US" sz="900">
                          <a:latin typeface="Discover Sans" pitchFamily="2" charset="0"/>
                          <a:ea typeface="Discover Sans" pitchFamily="2" charset="0"/>
                        </a:rPr>
                        <a:t>– </a:t>
                      </a:r>
                      <a:r>
                        <a:rPr lang="en-US" sz="900" i="1">
                          <a:latin typeface="Discover Sans" pitchFamily="2" charset="0"/>
                          <a:ea typeface="Discover Sans" pitchFamily="2" charset="0"/>
                        </a:rPr>
                        <a:t>Also handles Vault related questions</a:t>
                      </a:r>
                    </a:p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900">
                        <a:latin typeface="Discover Sans" pitchFamily="2" charset="0"/>
                        <a:ea typeface="Discover Sans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lvl="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900">
                          <a:latin typeface="Discover Sans" pitchFamily="2" charset="0"/>
                          <a:ea typeface="Discover Sans" pitchFamily="2" charset="0"/>
                          <a:hlinkClick r:id="rId6"/>
                        </a:rPr>
                        <a:t>Vault Troubleshooting Guide</a:t>
                      </a:r>
                      <a:endParaRPr lang="en-US" sz="900"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marL="0" lvl="0" indent="0" algn="l">
                        <a:buNone/>
                      </a:pPr>
                      <a:endParaRPr lang="en-US" sz="900">
                        <a:latin typeface="Discover Sans" pitchFamily="2" charset="0"/>
                        <a:ea typeface="Discover Sans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28650" lvl="1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kern="1200">
                          <a:solidFill>
                            <a:schemeClr val="dk1"/>
                          </a:solidFill>
                          <a:effectLst/>
                          <a:latin typeface="Discover Sans" pitchFamily="2" charset="0"/>
                          <a:ea typeface="Discover Sans" pitchFamily="2" charset="0"/>
                          <a:cs typeface="+mn-cs"/>
                          <a:hlinkClick r:id="rId7"/>
                        </a:rPr>
                        <a:t>ServiceNow Incident Ticket. Assign to </a:t>
                      </a:r>
                      <a:r>
                        <a:rPr lang="en-US" sz="900" b="1" i="0" kern="1200">
                          <a:solidFill>
                            <a:schemeClr val="dk1"/>
                          </a:solidFill>
                          <a:effectLst/>
                          <a:latin typeface="Discover Sans" pitchFamily="2" charset="0"/>
                          <a:ea typeface="Discover Sans" pitchFamily="2" charset="0"/>
                          <a:cs typeface="+mn-cs"/>
                          <a:hlinkClick r:id="rId7"/>
                        </a:rPr>
                        <a:t>Secrets Storage.</a:t>
                      </a:r>
                      <a:endParaRPr lang="en-US" sz="900" b="1" i="0" kern="1200">
                        <a:solidFill>
                          <a:schemeClr val="dk1"/>
                        </a:solidFill>
                        <a:effectLst/>
                        <a:latin typeface="Discover Sans" pitchFamily="2" charset="0"/>
                        <a:ea typeface="Discover Sans" pitchFamily="2" charset="0"/>
                        <a:cs typeface="+mn-cs"/>
                      </a:endParaRPr>
                    </a:p>
                    <a:p>
                      <a:pPr marL="628650" lvl="1" indent="-171450" algn="l">
                        <a:buFont typeface="Arial" panose="020B0604020202020204" pitchFamily="34" charset="0"/>
                        <a:buChar char="•"/>
                      </a:pPr>
                      <a:endParaRPr lang="en-US" sz="900" b="1" i="0" kern="1200">
                        <a:solidFill>
                          <a:schemeClr val="dk1"/>
                        </a:solidFill>
                        <a:effectLst/>
                        <a:latin typeface="Discover Sans" pitchFamily="2" charset="0"/>
                        <a:ea typeface="Discover Sans" pitchFamily="2" charset="0"/>
                        <a:cs typeface="+mn-cs"/>
                      </a:endParaRPr>
                    </a:p>
                    <a:p>
                      <a:pPr marL="628650" lvl="1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kern="1200">
                          <a:solidFill>
                            <a:schemeClr val="dk1"/>
                          </a:solidFill>
                          <a:effectLst/>
                          <a:latin typeface="Discover Sans" pitchFamily="2" charset="0"/>
                          <a:ea typeface="Discover Sans" pitchFamily="2" charset="0"/>
                          <a:cs typeface="+mn-cs"/>
                        </a:rPr>
                        <a:t>For Escalation: </a:t>
                      </a:r>
                      <a:r>
                        <a:rPr lang="en-US" sz="900" b="0" i="0" kern="1200">
                          <a:solidFill>
                            <a:schemeClr val="dk1"/>
                          </a:solidFill>
                          <a:effectLst/>
                          <a:latin typeface="Discover Sans" pitchFamily="2" charset="0"/>
                          <a:ea typeface="Discover Sans" pitchFamily="2" charset="0"/>
                          <a:cs typeface="+mn-cs"/>
                          <a:hlinkClick r:id="rId8"/>
                        </a:rPr>
                        <a:t>Page Secrets Storage Primary</a:t>
                      </a:r>
                      <a:endParaRPr lang="en-US" sz="900" b="0" i="0" kern="1200">
                        <a:solidFill>
                          <a:schemeClr val="dk1"/>
                        </a:solidFill>
                        <a:effectLst/>
                        <a:latin typeface="Discover Sans" pitchFamily="2" charset="0"/>
                        <a:ea typeface="Discover Sans" pitchFamily="2" charset="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852435"/>
                  </a:ext>
                </a:extLst>
              </a:tr>
              <a:tr h="990913"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latin typeface="Discover Sans" pitchFamily="2" charset="0"/>
                          <a:ea typeface="Discover Sans" pitchFamily="2" charset="0"/>
                        </a:rPr>
                        <a:t>CyberArk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i="0" kern="1200">
                          <a:solidFill>
                            <a:schemeClr val="dk1"/>
                          </a:solidFill>
                          <a:effectLst/>
                          <a:latin typeface="Discover Sans" pitchFamily="2" charset="0"/>
                          <a:ea typeface="Discover Sans" pitchFamily="2" charset="0"/>
                          <a:cs typeface="+mn-cs"/>
                        </a:rPr>
                        <a:t>Repository for privilege password management (PPM) and application identity management (AIM)</a:t>
                      </a:r>
                      <a:endParaRPr lang="en-US" sz="900">
                        <a:latin typeface="Discover Sans" pitchFamily="2" charset="0"/>
                        <a:ea typeface="Discover Sans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>
                          <a:latin typeface="Discover Sans" pitchFamily="2" charset="0"/>
                          <a:ea typeface="Discover Sans" pitchFamily="2" charset="0"/>
                          <a:hlinkClick r:id="rId9"/>
                        </a:rPr>
                        <a:t>CyberArk AIM Documentation</a:t>
                      </a:r>
                      <a:endParaRPr lang="en-US" sz="900"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marL="0" lvl="0" indent="0">
                        <a:buFont typeface="Arial" panose="020B0604020202020204" pitchFamily="34" charset="0"/>
                        <a:buNone/>
                      </a:pPr>
                      <a:endParaRPr lang="en-US" sz="900"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>
                          <a:latin typeface="Discover Sans" pitchFamily="2" charset="0"/>
                          <a:ea typeface="Discover Sans" pitchFamily="2" charset="0"/>
                          <a:hlinkClick r:id="rId10"/>
                        </a:rPr>
                        <a:t>PPM User Guide</a:t>
                      </a:r>
                      <a:endParaRPr lang="en-US" sz="900">
                        <a:latin typeface="Discover Sans" pitchFamily="2" charset="0"/>
                        <a:ea typeface="Discover Sans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286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>
                          <a:latin typeface="Discover Sans" pitchFamily="2" charset="0"/>
                          <a:ea typeface="Discover Sans" pitchFamily="2" charset="0"/>
                          <a:hlinkClick r:id="rId4"/>
                        </a:rPr>
                        <a:t>Secrets Storage Support &amp; Collaboration MS Teams Channel</a:t>
                      </a:r>
                      <a:endParaRPr lang="en-US" sz="900"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marL="457200" marR="0" lvl="1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endParaRPr lang="en-US" sz="900"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marL="6286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>
                          <a:latin typeface="Discover Sans" pitchFamily="2" charset="0"/>
                          <a:ea typeface="Discover Sans" pitchFamily="2" charset="0"/>
                          <a:hlinkClick r:id="rId5"/>
                        </a:rPr>
                        <a:t>Tupperware Office Hours – OpenShift Container Platform (OCP</a:t>
                      </a:r>
                      <a:r>
                        <a:rPr lang="en-US" sz="900">
                          <a:latin typeface="Discover Sans" pitchFamily="2" charset="0"/>
                          <a:ea typeface="Discover Sans" pitchFamily="2" charset="0"/>
                          <a:hlinkClick r:id="rId11"/>
                        </a:rPr>
                        <a:t>)</a:t>
                      </a:r>
                      <a:r>
                        <a:rPr lang="en-US" sz="900">
                          <a:latin typeface="Discover Sans" pitchFamily="2" charset="0"/>
                          <a:ea typeface="Discover Sans" pitchFamily="2" charset="0"/>
                        </a:rPr>
                        <a:t> – </a:t>
                      </a:r>
                      <a:r>
                        <a:rPr lang="en-US" sz="900" i="1">
                          <a:latin typeface="Discover Sans" pitchFamily="2" charset="0"/>
                          <a:ea typeface="Discover Sans" pitchFamily="2" charset="0"/>
                        </a:rPr>
                        <a:t>Also handles CyberArk related questions</a:t>
                      </a:r>
                    </a:p>
                    <a:p>
                      <a:pPr marL="0" lvl="0" indent="0">
                        <a:buFont typeface="Arial" panose="020B0604020202020204" pitchFamily="34" charset="0"/>
                        <a:buNone/>
                      </a:pPr>
                      <a:endParaRPr lang="en-US" sz="900">
                        <a:latin typeface="Discover Sans" pitchFamily="2" charset="0"/>
                        <a:ea typeface="Discover Sans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>
                          <a:latin typeface="Discover Sans" pitchFamily="2" charset="0"/>
                          <a:ea typeface="Discover Sans" pitchFamily="2" charset="0"/>
                          <a:hlinkClick r:id="rId12"/>
                        </a:rPr>
                        <a:t>AIM Troubleshooting and Common Errors</a:t>
                      </a:r>
                      <a:endParaRPr lang="en-US" sz="900"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endParaRPr lang="en-US" sz="900"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endParaRPr lang="en-US" sz="900">
                        <a:latin typeface="Discover Sans" pitchFamily="2" charset="0"/>
                        <a:ea typeface="Discover Sans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286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b="0" i="0" kern="1200">
                          <a:solidFill>
                            <a:schemeClr val="dk1"/>
                          </a:solidFill>
                          <a:effectLst/>
                          <a:latin typeface="Discover Sans" pitchFamily="2" charset="0"/>
                          <a:ea typeface="Discover Sans" pitchFamily="2" charset="0"/>
                          <a:cs typeface="+mn-cs"/>
                          <a:hlinkClick r:id="rId7"/>
                        </a:rPr>
                        <a:t>ServiceNow Incident Ticket. Assign to </a:t>
                      </a:r>
                      <a:r>
                        <a:rPr lang="en-US" sz="900" b="1" i="0" kern="1200">
                          <a:solidFill>
                            <a:schemeClr val="dk1"/>
                          </a:solidFill>
                          <a:effectLst/>
                          <a:latin typeface="Discover Sans" pitchFamily="2" charset="0"/>
                          <a:ea typeface="Discover Sans" pitchFamily="2" charset="0"/>
                          <a:cs typeface="+mn-cs"/>
                          <a:hlinkClick r:id="rId7"/>
                        </a:rPr>
                        <a:t>Secrets Storage.</a:t>
                      </a:r>
                      <a:endParaRPr lang="en-US" sz="900" b="1" i="0" kern="1200">
                        <a:solidFill>
                          <a:schemeClr val="dk1"/>
                        </a:solidFill>
                        <a:effectLst/>
                        <a:latin typeface="Discover Sans" pitchFamily="2" charset="0"/>
                        <a:ea typeface="Discover Sans" pitchFamily="2" charset="0"/>
                        <a:cs typeface="+mn-cs"/>
                      </a:endParaRPr>
                    </a:p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900" b="1" i="0" kern="1200">
                        <a:solidFill>
                          <a:schemeClr val="dk1"/>
                        </a:solidFill>
                        <a:effectLst/>
                        <a:latin typeface="Discover Sans" pitchFamily="2" charset="0"/>
                        <a:ea typeface="Discover Sans" pitchFamily="2" charset="0"/>
                        <a:cs typeface="+mn-cs"/>
                      </a:endParaRPr>
                    </a:p>
                    <a:p>
                      <a:pPr marL="6286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b="0" i="0" kern="1200">
                          <a:solidFill>
                            <a:schemeClr val="dk1"/>
                          </a:solidFill>
                          <a:effectLst/>
                          <a:latin typeface="Discover Sans" pitchFamily="2" charset="0"/>
                          <a:ea typeface="Discover Sans" pitchFamily="2" charset="0"/>
                          <a:cs typeface="+mn-cs"/>
                        </a:rPr>
                        <a:t>For Escalation: </a:t>
                      </a:r>
                      <a:r>
                        <a:rPr lang="en-US" sz="900" b="0" i="0" kern="1200">
                          <a:solidFill>
                            <a:schemeClr val="dk1"/>
                          </a:solidFill>
                          <a:effectLst/>
                          <a:latin typeface="Discover Sans" pitchFamily="2" charset="0"/>
                          <a:ea typeface="Discover Sans" pitchFamily="2" charset="0"/>
                          <a:cs typeface="+mn-cs"/>
                          <a:hlinkClick r:id="rId8"/>
                        </a:rPr>
                        <a:t>Page Secrets Storage Primary</a:t>
                      </a:r>
                      <a:endParaRPr lang="en-US" sz="900" b="0" i="0" kern="1200">
                        <a:solidFill>
                          <a:schemeClr val="dk1"/>
                        </a:solidFill>
                        <a:effectLst/>
                        <a:latin typeface="Discover Sans" pitchFamily="2" charset="0"/>
                        <a:ea typeface="Discover Sans" pitchFamily="2" charset="0"/>
                        <a:cs typeface="+mn-cs"/>
                      </a:endParaRPr>
                    </a:p>
                    <a:p>
                      <a:pPr marL="0" lvl="0" indent="0">
                        <a:buFont typeface="Arial" panose="020B0604020202020204" pitchFamily="34" charset="0"/>
                        <a:buNone/>
                      </a:pPr>
                      <a:endParaRPr lang="en-US" sz="900">
                        <a:latin typeface="Discover Sans" pitchFamily="2" charset="0"/>
                        <a:ea typeface="Discover Sans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7786150"/>
                  </a:ext>
                </a:extLst>
              </a:tr>
              <a:tr h="990913"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latin typeface="Discover Sans" pitchFamily="2" charset="0"/>
                          <a:ea typeface="Discover Sans" pitchFamily="2" charset="0"/>
                        </a:rPr>
                        <a:t>Cloak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latin typeface="Discover Sans"/>
                          <a:ea typeface="Discover Sans" pitchFamily="2" charset="0"/>
                        </a:rPr>
                        <a:t>Centralized obfuscation service for use by applications for safe and secure transmission or storage of sensitive data.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>
                          <a:latin typeface="Discover Sans"/>
                          <a:ea typeface="Discover Sans" pitchFamily="2" charset="0"/>
                          <a:hlinkClick r:id="rId13"/>
                        </a:rPr>
                        <a:t>Getting Started</a:t>
                      </a:r>
                      <a:endParaRPr lang="en-US" sz="900">
                        <a:latin typeface="Discover Sans"/>
                        <a:ea typeface="Discover Sans" pitchFamily="2" charset="0"/>
                      </a:endParaRPr>
                    </a:p>
                    <a:p>
                      <a:pPr marL="0" lvl="0" indent="0">
                        <a:buFont typeface="Arial" panose="020B0604020202020204" pitchFamily="34" charset="0"/>
                        <a:buNone/>
                      </a:pPr>
                      <a:endParaRPr lang="en-US" sz="900">
                        <a:latin typeface="Discover Sans"/>
                        <a:ea typeface="Discover Sans" pitchFamily="2" charset="0"/>
                      </a:endParaRP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>
                          <a:latin typeface="Discover Sans"/>
                          <a:ea typeface="Discover Sans" pitchFamily="2" charset="0"/>
                          <a:hlinkClick r:id="rId14"/>
                        </a:rPr>
                        <a:t>Useful Cloak Links</a:t>
                      </a:r>
                      <a:endParaRPr lang="en-US" sz="900">
                        <a:latin typeface="Discover Sans"/>
                        <a:ea typeface="Discover Sans" pitchFamily="2" charset="0"/>
                      </a:endParaRPr>
                    </a:p>
                    <a:p>
                      <a:pPr marL="0" lvl="0" indent="0">
                        <a:buFont typeface="Arial" panose="020B0604020202020204" pitchFamily="34" charset="0"/>
                        <a:buNone/>
                      </a:pPr>
                      <a:endParaRPr lang="en-US" sz="900">
                        <a:latin typeface="Discover Sans"/>
                        <a:ea typeface="Discover Sans" pitchFamily="2" charset="0"/>
                      </a:endParaRPr>
                    </a:p>
                    <a:p>
                      <a:pPr marL="0" lvl="0" indent="0">
                        <a:buFont typeface="Arial" panose="020B0604020202020204" pitchFamily="34" charset="0"/>
                        <a:buNone/>
                      </a:pPr>
                      <a:endParaRPr lang="en-US" sz="900">
                        <a:latin typeface="Discover Sans" pitchFamily="2" charset="0"/>
                        <a:ea typeface="Discover Sans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28650" marR="0" lvl="1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>
                          <a:latin typeface="Discover Sans" pitchFamily="2" charset="0"/>
                          <a:ea typeface="Discover Sans" pitchFamily="2" charset="0"/>
                          <a:hlinkClick r:id="rId15"/>
                        </a:rPr>
                        <a:t>Cloak Product Suite Yammer Group</a:t>
                      </a:r>
                      <a:endParaRPr lang="en-US" sz="900"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lvl="0">
                        <a:buNone/>
                      </a:pPr>
                      <a:endParaRPr lang="en-US" sz="900"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marL="628650" marR="0" lvl="1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err="1">
                          <a:latin typeface="Discover Sans"/>
                          <a:ea typeface="Discover Sans" pitchFamily="2" charset="0"/>
                          <a:hlinkClick r:id="rId16"/>
                        </a:rPr>
                        <a:t>CloakSuite</a:t>
                      </a:r>
                      <a:r>
                        <a:rPr lang="en-US" sz="900">
                          <a:latin typeface="Discover Sans"/>
                          <a:ea typeface="Discover Sans" pitchFamily="2" charset="0"/>
                          <a:hlinkClick r:id="rId16"/>
                        </a:rPr>
                        <a:t> Office Hours</a:t>
                      </a:r>
                      <a:endParaRPr lang="en-US" sz="900">
                        <a:latin typeface="Discover Sans"/>
                        <a:ea typeface="Discover Sans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>
                          <a:latin typeface="Discover Sans" pitchFamily="2" charset="0"/>
                          <a:ea typeface="Discover Sans" pitchFamily="2" charset="0"/>
                          <a:hlinkClick r:id="rId17"/>
                        </a:rPr>
                        <a:t>Cloak Issue Solution Archive</a:t>
                      </a:r>
                      <a:endParaRPr lang="en-US" sz="900">
                        <a:latin typeface="Discover Sans" pitchFamily="2" charset="0"/>
                        <a:ea typeface="Discover Sans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457200" lvl="1" indent="0">
                        <a:buFont typeface="Arial" panose="020B0604020202020204" pitchFamily="34" charset="0"/>
                        <a:buNone/>
                      </a:pPr>
                      <a:r>
                        <a:rPr lang="en-US" sz="900">
                          <a:latin typeface="Discover Sans" pitchFamily="2" charset="0"/>
                          <a:ea typeface="Discover Sans" pitchFamily="2" charset="0"/>
                        </a:rPr>
                        <a:t>Non-production issues:</a:t>
                      </a: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b="1">
                          <a:latin typeface="Discover Sans" pitchFamily="2" charset="0"/>
                          <a:ea typeface="Discover Sans" pitchFamily="2" charset="0"/>
                        </a:rPr>
                        <a:t>Data Security Products</a:t>
                      </a:r>
                      <a:r>
                        <a:rPr lang="en-US" sz="900">
                          <a:latin typeface="Discover Sans" pitchFamily="2" charset="0"/>
                          <a:ea typeface="Discover Sans" pitchFamily="2" charset="0"/>
                        </a:rPr>
                        <a:t>: </a:t>
                      </a:r>
                      <a:r>
                        <a:rPr lang="en-US" sz="900">
                          <a:latin typeface="Discover Sans" pitchFamily="2" charset="0"/>
                          <a:ea typeface="Discover Sans" pitchFamily="2" charset="0"/>
                          <a:hlinkClick r:id="rId18"/>
                        </a:rPr>
                        <a:t>Create issue in GitHub.</a:t>
                      </a:r>
                      <a:endParaRPr lang="en-US" sz="900"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marL="0" lvl="0" indent="0">
                        <a:buFont typeface="Arial" panose="020B0604020202020204" pitchFamily="34" charset="0"/>
                        <a:buNone/>
                      </a:pPr>
                      <a:endParaRPr lang="en-US" sz="900"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marL="457200" lvl="1" indent="0">
                        <a:buFont typeface="Arial" panose="020B0604020202020204" pitchFamily="34" charset="0"/>
                        <a:buNone/>
                      </a:pPr>
                      <a:r>
                        <a:rPr lang="en-US" sz="900">
                          <a:latin typeface="Discover Sans" pitchFamily="2" charset="0"/>
                          <a:ea typeface="Discover Sans" pitchFamily="2" charset="0"/>
                        </a:rPr>
                        <a:t>Production issues:</a:t>
                      </a: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>
                          <a:latin typeface="Discover Sans" pitchFamily="2" charset="0"/>
                          <a:ea typeface="Discover Sans" pitchFamily="2" charset="0"/>
                          <a:hlinkClick r:id="rId7"/>
                        </a:rPr>
                        <a:t>ServiceNow Incident. Assign to </a:t>
                      </a:r>
                      <a:r>
                        <a:rPr lang="en-US" sz="900" b="1">
                          <a:latin typeface="Discover Sans" pitchFamily="2" charset="0"/>
                          <a:ea typeface="Discover Sans" pitchFamily="2" charset="0"/>
                          <a:hlinkClick r:id="rId7"/>
                        </a:rPr>
                        <a:t>Data Security Products.</a:t>
                      </a:r>
                      <a:endParaRPr lang="en-US" sz="900" b="1">
                        <a:latin typeface="Discover Sans" pitchFamily="2" charset="0"/>
                        <a:ea typeface="Discover Sans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735407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D8390DCE-3F30-212E-15B0-F0F7C58EEC72}"/>
              </a:ext>
            </a:extLst>
          </p:cNvPr>
          <p:cNvSpPr txBox="1"/>
          <p:nvPr/>
        </p:nvSpPr>
        <p:spPr>
          <a:xfrm>
            <a:off x="597540" y="154865"/>
            <a:ext cx="898677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Discover Sans" pitchFamily="2" charset="0"/>
                <a:ea typeface="Discover Sans" pitchFamily="2" charset="0"/>
                <a:cs typeface="+mn-cs"/>
              </a:rPr>
              <a:t>Security</a:t>
            </a: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174173CE-E956-B8B1-F40B-F49E2019AC23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08695" y="627116"/>
            <a:ext cx="596900" cy="532826"/>
          </a:xfrm>
          <a:prstGeom prst="rect">
            <a:avLst/>
          </a:prstGeom>
        </p:spPr>
      </p:pic>
      <p:pic>
        <p:nvPicPr>
          <p:cNvPr id="6" name="Picture 5" descr="Graphical user interface, Teams&#10;&#10;Description automatically generated">
            <a:extLst>
              <a:ext uri="{FF2B5EF4-FFF2-40B4-BE49-F238E27FC236}">
                <a16:creationId xmlns:a16="http://schemas.microsoft.com/office/drawing/2014/main" id="{112BCD2F-A0FC-7B17-9C1B-E0362A213722}"/>
              </a:ext>
            </a:extLst>
          </p:cNvPr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800"/>
          <a:stretch/>
        </p:blipFill>
        <p:spPr>
          <a:xfrm>
            <a:off x="8377725" y="616513"/>
            <a:ext cx="596900" cy="630200"/>
          </a:xfrm>
          <a:prstGeom prst="rect">
            <a:avLst/>
          </a:prstGeom>
        </p:spPr>
      </p:pic>
      <p:pic>
        <p:nvPicPr>
          <p:cNvPr id="8" name="Picture 7" descr="Graphical user interface, application, Teams&#10;&#10;Description automatically generated">
            <a:extLst>
              <a:ext uri="{FF2B5EF4-FFF2-40B4-BE49-F238E27FC236}">
                <a16:creationId xmlns:a16="http://schemas.microsoft.com/office/drawing/2014/main" id="{891646DE-FD59-7AF4-1200-C1D2811BAEB8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0117" y="582232"/>
            <a:ext cx="685093" cy="628854"/>
          </a:xfrm>
          <a:prstGeom prst="rect">
            <a:avLst/>
          </a:prstGeom>
        </p:spPr>
      </p:pic>
      <p:pic>
        <p:nvPicPr>
          <p:cNvPr id="10" name="Picture 9" descr="Graphical user interface, application, Teams&#10;&#10;Description automatically generated">
            <a:extLst>
              <a:ext uri="{FF2B5EF4-FFF2-40B4-BE49-F238E27FC236}">
                <a16:creationId xmlns:a16="http://schemas.microsoft.com/office/drawing/2014/main" id="{B36FF26F-8D30-E14B-5333-4BBF472AE797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3699" y="607649"/>
            <a:ext cx="547227" cy="532826"/>
          </a:xfrm>
          <a:prstGeom prst="rect">
            <a:avLst/>
          </a:prstGeom>
        </p:spPr>
      </p:pic>
      <p:pic>
        <p:nvPicPr>
          <p:cNvPr id="14" name="Picture 13" descr="Graphical user interface, application, Teams&#10;&#10;Description automatically generated">
            <a:extLst>
              <a:ext uri="{FF2B5EF4-FFF2-40B4-BE49-F238E27FC236}">
                <a16:creationId xmlns:a16="http://schemas.microsoft.com/office/drawing/2014/main" id="{1339FE93-EDD3-0980-3196-FDC37C677A78}"/>
              </a:ext>
            </a:extLst>
          </p:cNvPr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50" r="10025"/>
          <a:stretch/>
        </p:blipFill>
        <p:spPr>
          <a:xfrm>
            <a:off x="5938509" y="1661451"/>
            <a:ext cx="314982" cy="324497"/>
          </a:xfrm>
          <a:prstGeom prst="rect">
            <a:avLst/>
          </a:prstGeom>
        </p:spPr>
      </p:pic>
      <p:pic>
        <p:nvPicPr>
          <p:cNvPr id="11" name="Picture 10" descr="Graphical user interface, application, Teams&#10;&#10;Description automatically generated">
            <a:extLst>
              <a:ext uri="{FF2B5EF4-FFF2-40B4-BE49-F238E27FC236}">
                <a16:creationId xmlns:a16="http://schemas.microsoft.com/office/drawing/2014/main" id="{78EB9EF0-6BCD-F1AC-DA45-C24CD5FE18D7}"/>
              </a:ext>
            </a:extLst>
          </p:cNvPr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50" r="10025"/>
          <a:stretch/>
        </p:blipFill>
        <p:spPr>
          <a:xfrm>
            <a:off x="5938509" y="2351655"/>
            <a:ext cx="314982" cy="324497"/>
          </a:xfrm>
          <a:prstGeom prst="rect">
            <a:avLst/>
          </a:prstGeom>
        </p:spPr>
      </p:pic>
      <p:pic>
        <p:nvPicPr>
          <p:cNvPr id="7" name="Picture 6" descr="Icon&#10;&#10;Description automatically generated">
            <a:extLst>
              <a:ext uri="{FF2B5EF4-FFF2-40B4-BE49-F238E27FC236}">
                <a16:creationId xmlns:a16="http://schemas.microsoft.com/office/drawing/2014/main" id="{BEBA7DF7-A722-18C2-9626-C935AA5ADF22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4777" y="1692499"/>
            <a:ext cx="344778" cy="324497"/>
          </a:xfrm>
          <a:prstGeom prst="rect">
            <a:avLst/>
          </a:prstGeom>
        </p:spPr>
      </p:pic>
      <p:pic>
        <p:nvPicPr>
          <p:cNvPr id="17" name="Picture 16" descr="Graphical user interface, application, Teams&#10;&#10;Description automatically generated">
            <a:extLst>
              <a:ext uri="{FF2B5EF4-FFF2-40B4-BE49-F238E27FC236}">
                <a16:creationId xmlns:a16="http://schemas.microsoft.com/office/drawing/2014/main" id="{E00C8016-C462-5C01-4B65-935A6FB3B6F1}"/>
              </a:ext>
            </a:extLst>
          </p:cNvPr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50" r="10025"/>
          <a:stretch/>
        </p:blipFill>
        <p:spPr>
          <a:xfrm>
            <a:off x="5938508" y="3412339"/>
            <a:ext cx="314982" cy="324497"/>
          </a:xfrm>
          <a:prstGeom prst="rect">
            <a:avLst/>
          </a:prstGeom>
        </p:spPr>
      </p:pic>
      <p:pic>
        <p:nvPicPr>
          <p:cNvPr id="18" name="Picture 17" descr="Icon&#10;&#10;Description automatically generated">
            <a:extLst>
              <a:ext uri="{FF2B5EF4-FFF2-40B4-BE49-F238E27FC236}">
                <a16:creationId xmlns:a16="http://schemas.microsoft.com/office/drawing/2014/main" id="{A8E94B70-27B0-405D-ED44-64F38141CFBF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8509" y="5163227"/>
            <a:ext cx="314981" cy="304303"/>
          </a:xfrm>
          <a:prstGeom prst="rect">
            <a:avLst/>
          </a:prstGeom>
        </p:spPr>
      </p:pic>
      <p:pic>
        <p:nvPicPr>
          <p:cNvPr id="20" name="Picture 19" descr="Icon&#10;&#10;Description automatically generated">
            <a:extLst>
              <a:ext uri="{FF2B5EF4-FFF2-40B4-BE49-F238E27FC236}">
                <a16:creationId xmlns:a16="http://schemas.microsoft.com/office/drawing/2014/main" id="{E2622C64-7ED2-7344-B371-AFB3AD382A9D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2284" y="3412338"/>
            <a:ext cx="344778" cy="324497"/>
          </a:xfrm>
          <a:prstGeom prst="rect">
            <a:avLst/>
          </a:prstGeom>
        </p:spPr>
      </p:pic>
      <p:pic>
        <p:nvPicPr>
          <p:cNvPr id="16" name="Picture 15" descr="Graphical user interface, application, Teams&#10;&#10;Description automatically generated">
            <a:extLst>
              <a:ext uri="{FF2B5EF4-FFF2-40B4-BE49-F238E27FC236}">
                <a16:creationId xmlns:a16="http://schemas.microsoft.com/office/drawing/2014/main" id="{DA77E0E7-ECF1-B537-EB02-F20041CCB1E2}"/>
              </a:ext>
            </a:extLst>
          </p:cNvPr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50" r="10025"/>
          <a:stretch/>
        </p:blipFill>
        <p:spPr>
          <a:xfrm>
            <a:off x="5938508" y="4052597"/>
            <a:ext cx="314982" cy="324497"/>
          </a:xfrm>
          <a:prstGeom prst="rect">
            <a:avLst/>
          </a:prstGeom>
        </p:spPr>
      </p:pic>
      <p:pic>
        <p:nvPicPr>
          <p:cNvPr id="19" name="Picture 18" descr="Graphical user interface, application, Teams&#10;&#10;Description automatically generated">
            <a:extLst>
              <a:ext uri="{FF2B5EF4-FFF2-40B4-BE49-F238E27FC236}">
                <a16:creationId xmlns:a16="http://schemas.microsoft.com/office/drawing/2014/main" id="{D67DDAB8-75D5-A975-5470-897CC5CD0717}"/>
              </a:ext>
            </a:extLst>
          </p:cNvPr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50" r="10025"/>
          <a:stretch/>
        </p:blipFill>
        <p:spPr>
          <a:xfrm>
            <a:off x="5938508" y="5588803"/>
            <a:ext cx="314982" cy="324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0896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1F57DCF3-4919-AECA-12A9-F1DCC68A09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474204"/>
              </p:ext>
            </p:extLst>
          </p:nvPr>
        </p:nvGraphicFramePr>
        <p:xfrm>
          <a:off x="678755" y="524197"/>
          <a:ext cx="11259879" cy="36274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9673">
                  <a:extLst>
                    <a:ext uri="{9D8B030D-6E8A-4147-A177-3AD203B41FA5}">
                      <a16:colId xmlns:a16="http://schemas.microsoft.com/office/drawing/2014/main" val="513794599"/>
                    </a:ext>
                  </a:extLst>
                </a:gridCol>
                <a:gridCol w="1977503">
                  <a:extLst>
                    <a:ext uri="{9D8B030D-6E8A-4147-A177-3AD203B41FA5}">
                      <a16:colId xmlns:a16="http://schemas.microsoft.com/office/drawing/2014/main" val="1925627750"/>
                    </a:ext>
                  </a:extLst>
                </a:gridCol>
                <a:gridCol w="1655085">
                  <a:extLst>
                    <a:ext uri="{9D8B030D-6E8A-4147-A177-3AD203B41FA5}">
                      <a16:colId xmlns:a16="http://schemas.microsoft.com/office/drawing/2014/main" val="3962688613"/>
                    </a:ext>
                  </a:extLst>
                </a:gridCol>
                <a:gridCol w="1934973">
                  <a:extLst>
                    <a:ext uri="{9D8B030D-6E8A-4147-A177-3AD203B41FA5}">
                      <a16:colId xmlns:a16="http://schemas.microsoft.com/office/drawing/2014/main" val="3837542045"/>
                    </a:ext>
                  </a:extLst>
                </a:gridCol>
                <a:gridCol w="2211881">
                  <a:extLst>
                    <a:ext uri="{9D8B030D-6E8A-4147-A177-3AD203B41FA5}">
                      <a16:colId xmlns:a16="http://schemas.microsoft.com/office/drawing/2014/main" val="843884855"/>
                    </a:ext>
                  </a:extLst>
                </a:gridCol>
                <a:gridCol w="2190764">
                  <a:extLst>
                    <a:ext uri="{9D8B030D-6E8A-4147-A177-3AD203B41FA5}">
                      <a16:colId xmlns:a16="http://schemas.microsoft.com/office/drawing/2014/main" val="2648964239"/>
                    </a:ext>
                  </a:extLst>
                </a:gridCol>
              </a:tblGrid>
              <a:tr h="1112845"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Discover Sans"/>
                          <a:ea typeface="Discover Sans" pitchFamily="2" charset="0"/>
                        </a:rPr>
                        <a:t>System / Tool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Discover Sans"/>
                          <a:ea typeface="Discover Sans" pitchFamily="2" charset="0"/>
                        </a:rPr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900">
                        <a:solidFill>
                          <a:schemeClr val="tx1"/>
                        </a:solidFill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lvl="0" algn="ctr">
                        <a:buNone/>
                      </a:pPr>
                      <a:endParaRPr lang="en-US" sz="900">
                        <a:solidFill>
                          <a:schemeClr val="tx1"/>
                        </a:solidFill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lvl="0" algn="ctr">
                        <a:buNone/>
                      </a:pPr>
                      <a:endParaRPr lang="en-US" sz="900">
                        <a:solidFill>
                          <a:schemeClr val="tx1"/>
                        </a:solidFill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lvl="0" algn="ctr">
                        <a:buNone/>
                      </a:pPr>
                      <a:endParaRPr lang="en-US" sz="900">
                        <a:solidFill>
                          <a:schemeClr val="tx1"/>
                        </a:solidFill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lvl="0" algn="ctr">
                        <a:buNone/>
                      </a:pPr>
                      <a:endParaRPr lang="en-US" sz="900">
                        <a:solidFill>
                          <a:schemeClr val="tx1"/>
                        </a:solidFill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900">
                          <a:solidFill>
                            <a:schemeClr val="tx1"/>
                          </a:solidFill>
                          <a:latin typeface="Discover Sans"/>
                          <a:ea typeface="Discover Sans" pitchFamily="2" charset="0"/>
                        </a:rPr>
                        <a:t>General Information &amp; Overviews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900">
                        <a:solidFill>
                          <a:schemeClr val="tx1"/>
                        </a:solidFill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lvl="0" algn="ctr">
                        <a:buNone/>
                      </a:pPr>
                      <a:endParaRPr lang="en-US" sz="900">
                        <a:solidFill>
                          <a:schemeClr val="tx1"/>
                        </a:solidFill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lvl="0" algn="ctr">
                        <a:buNone/>
                      </a:pPr>
                      <a:endParaRPr lang="en-US" sz="900">
                        <a:solidFill>
                          <a:schemeClr val="tx1"/>
                        </a:solidFill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lvl="0" algn="ctr">
                        <a:buNone/>
                      </a:pPr>
                      <a:endParaRPr lang="en-US" sz="900">
                        <a:solidFill>
                          <a:schemeClr val="tx1"/>
                        </a:solidFill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lvl="0" algn="ctr">
                        <a:buNone/>
                      </a:pPr>
                      <a:endParaRPr lang="en-US" sz="900">
                        <a:solidFill>
                          <a:schemeClr val="tx1"/>
                        </a:solidFill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900">
                          <a:solidFill>
                            <a:schemeClr val="tx1"/>
                          </a:solidFill>
                          <a:latin typeface="Discover Sans"/>
                          <a:ea typeface="Discover Sans" pitchFamily="2" charset="0"/>
                        </a:rPr>
                        <a:t>I need to engage on a general question</a:t>
                      </a:r>
                      <a:endParaRPr lang="en-US" sz="900">
                        <a:latin typeface="Discover Sans"/>
                        <a:ea typeface="Discover Sans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900">
                        <a:solidFill>
                          <a:schemeClr val="tx1"/>
                        </a:solidFill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lvl="0" algn="ctr">
                        <a:buNone/>
                      </a:pPr>
                      <a:endParaRPr lang="en-US" sz="900">
                        <a:solidFill>
                          <a:schemeClr val="tx1"/>
                        </a:solidFill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lvl="0" algn="ctr">
                        <a:buNone/>
                      </a:pPr>
                      <a:endParaRPr lang="en-US" sz="900">
                        <a:solidFill>
                          <a:schemeClr val="tx1"/>
                        </a:solidFill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lvl="0" algn="ctr">
                        <a:buNone/>
                      </a:pPr>
                      <a:endParaRPr lang="en-US" sz="900">
                        <a:solidFill>
                          <a:schemeClr val="tx1"/>
                        </a:solidFill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lvl="0" algn="ctr">
                        <a:buNone/>
                      </a:pPr>
                      <a:endParaRPr lang="en-US" sz="900">
                        <a:solidFill>
                          <a:schemeClr val="tx1"/>
                        </a:solidFill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900">
                          <a:solidFill>
                            <a:schemeClr val="tx1"/>
                          </a:solidFill>
                          <a:latin typeface="Discover Sans"/>
                          <a:ea typeface="Discover Sans" pitchFamily="2" charset="0"/>
                        </a:rPr>
                        <a:t>I need prior solutions or support resources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900">
                        <a:solidFill>
                          <a:schemeClr val="tx1"/>
                        </a:solidFill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lvl="0" algn="ctr">
                        <a:buNone/>
                      </a:pPr>
                      <a:endParaRPr lang="en-US" sz="900">
                        <a:solidFill>
                          <a:schemeClr val="tx1"/>
                        </a:solidFill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lvl="0" algn="ctr">
                        <a:buNone/>
                      </a:pPr>
                      <a:endParaRPr lang="en-US" sz="900">
                        <a:solidFill>
                          <a:schemeClr val="tx1"/>
                        </a:solidFill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lvl="0" algn="ctr">
                        <a:buNone/>
                      </a:pPr>
                      <a:endParaRPr lang="en-US" sz="900">
                        <a:solidFill>
                          <a:schemeClr val="tx1"/>
                        </a:solidFill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lvl="0" algn="ctr">
                        <a:buNone/>
                      </a:pPr>
                      <a:endParaRPr lang="en-US" sz="900">
                        <a:solidFill>
                          <a:schemeClr val="tx1"/>
                        </a:solidFill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900">
                          <a:solidFill>
                            <a:schemeClr val="tx1"/>
                          </a:solidFill>
                          <a:latin typeface="Discover Sans"/>
                          <a:ea typeface="Discover Sans" pitchFamily="2" charset="0"/>
                        </a:rPr>
                        <a:t>Support Group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1637515"/>
                  </a:ext>
                </a:extLst>
              </a:tr>
              <a:tr h="913450"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latin typeface="Discover Sans"/>
                          <a:ea typeface="Discover Sans" pitchFamily="2" charset="0"/>
                        </a:rPr>
                        <a:t>Internal APIs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>
                          <a:latin typeface="Discover Sans"/>
                          <a:ea typeface="Discover Sans" pitchFamily="2" charset="0"/>
                        </a:rPr>
                        <a:t>Supports all internal APIs formats that follows  JSON Web Token (JWT) Security Pattern.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900">
                          <a:latin typeface="Discover Sans"/>
                          <a:ea typeface="Discover Sans" pitchFamily="2" charset="0"/>
                          <a:hlinkClick r:id="rId3"/>
                        </a:rPr>
                        <a:t>Internal APIs - Resources</a:t>
                      </a:r>
                      <a:endParaRPr lang="en-US" sz="900">
                        <a:latin typeface="Discover Sans"/>
                        <a:ea typeface="Discover Sans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900">
                        <a:latin typeface="Discover Sans" pitchFamily="2" charset="0"/>
                        <a:ea typeface="Discover Sans" pitchFamily="2" charset="0"/>
                        <a:hlinkClick r:id="rId4"/>
                      </a:endParaRPr>
                    </a:p>
                    <a:p>
                      <a:pPr marL="6286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>
                          <a:latin typeface="Discover Sans" pitchFamily="2" charset="0"/>
                          <a:ea typeface="Discover Sans" pitchFamily="2" charset="0"/>
                          <a:hlinkClick r:id="rId4"/>
                        </a:rPr>
                        <a:t>API Management MS Teams Channel</a:t>
                      </a:r>
                      <a:r>
                        <a:rPr lang="fr-FR" sz="900">
                          <a:latin typeface="Discover Sans" pitchFamily="2" charset="0"/>
                          <a:ea typeface="Discover Sans" pitchFamily="2" charset="0"/>
                        </a:rPr>
                        <a:t>–</a:t>
                      </a:r>
                      <a:r>
                        <a:rPr lang="fr-FR" sz="900" b="1">
                          <a:latin typeface="Discover Sans" pitchFamily="2" charset="0"/>
                          <a:ea typeface="Discover Sans" pitchFamily="2" charset="0"/>
                        </a:rPr>
                        <a:t>24/7 Support</a:t>
                      </a:r>
                      <a:endParaRPr lang="en-US" sz="900" b="1">
                        <a:latin typeface="Discover Sans" pitchFamily="2" charset="0"/>
                        <a:ea typeface="Discover Sans" pitchFamily="2" charset="0"/>
                        <a:hlinkClick r:id="rId5"/>
                      </a:endParaRPr>
                    </a:p>
                    <a:p>
                      <a:pPr marL="6286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900">
                        <a:latin typeface="Discover Sans"/>
                        <a:ea typeface="Discover Sans" pitchFamily="2" charset="0"/>
                        <a:hlinkClick r:id="rId6"/>
                      </a:endParaRPr>
                    </a:p>
                    <a:p>
                      <a:pPr marL="6286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>
                          <a:latin typeface="Discover Sans"/>
                          <a:ea typeface="Discover Sans" pitchFamily="2" charset="0"/>
                          <a:hlinkClick r:id="rId6"/>
                        </a:rPr>
                        <a:t>API Developer Community</a:t>
                      </a:r>
                      <a:endParaRPr lang="en-US" sz="900">
                        <a:latin typeface="Discover Sans"/>
                        <a:ea typeface="Discover Sans" pitchFamily="2" charset="0"/>
                      </a:endParaRPr>
                    </a:p>
                    <a:p>
                      <a:pPr marL="0" lvl="0" indent="0">
                        <a:buFont typeface="Arial" panose="020B0604020202020204" pitchFamily="34" charset="0"/>
                        <a:buNone/>
                      </a:pPr>
                      <a:endParaRPr lang="en-US" sz="900">
                        <a:latin typeface="Discover Sans" pitchFamily="2" charset="0"/>
                        <a:ea typeface="Discover Sans" pitchFamily="2" charset="0"/>
                        <a:hlinkClick r:id="rId5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900">
                          <a:latin typeface="Discover Sans"/>
                          <a:ea typeface="Discover Sans" pitchFamily="2" charset="0"/>
                          <a:hlinkClick r:id="rId7"/>
                        </a:rPr>
                        <a:t>API Issue Solution Archive</a:t>
                      </a:r>
                      <a:endParaRPr lang="en-US" sz="900">
                        <a:latin typeface="Discover Sans"/>
                        <a:ea typeface="Discover Sans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286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>
                          <a:latin typeface="Discover Sans" pitchFamily="2" charset="0"/>
                          <a:ea typeface="Discover Sans" pitchFamily="2" charset="0"/>
                          <a:hlinkClick r:id="rId4"/>
                        </a:rPr>
                        <a:t>API Management MS Teams Channel</a:t>
                      </a:r>
                      <a:r>
                        <a:rPr lang="fr-FR" sz="900">
                          <a:latin typeface="Discover Sans" pitchFamily="2" charset="0"/>
                          <a:ea typeface="Discover Sans" pitchFamily="2" charset="0"/>
                        </a:rPr>
                        <a:t>–</a:t>
                      </a:r>
                      <a:r>
                        <a:rPr lang="fr-FR" sz="900" b="1">
                          <a:latin typeface="Discover Sans" pitchFamily="2" charset="0"/>
                          <a:ea typeface="Discover Sans" pitchFamily="2" charset="0"/>
                        </a:rPr>
                        <a:t>24/7 Support</a:t>
                      </a:r>
                      <a:endParaRPr lang="en-US" sz="900" b="1">
                        <a:latin typeface="Discover Sans" pitchFamily="2" charset="0"/>
                        <a:ea typeface="Discover Sans" pitchFamily="2" charset="0"/>
                        <a:hlinkClick r:id="rId5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900" b="1">
                        <a:latin typeface="Discover Sans"/>
                        <a:ea typeface="Discover Sans" pitchFamily="2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900" b="1">
                        <a:latin typeface="Discover Sans"/>
                        <a:ea typeface="Discover Sans" pitchFamily="2" charset="0"/>
                      </a:endParaRPr>
                    </a:p>
                    <a:p>
                      <a:pPr marL="6286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b="1">
                          <a:latin typeface="Discover Sans"/>
                          <a:ea typeface="Discover Sans" pitchFamily="2" charset="0"/>
                        </a:rPr>
                        <a:t>API Management</a:t>
                      </a:r>
                      <a:r>
                        <a:rPr lang="en-US" sz="900">
                          <a:latin typeface="Discover Sans"/>
                          <a:ea typeface="Discover Sans" pitchFamily="2" charset="0"/>
                        </a:rPr>
                        <a:t>: </a:t>
                      </a:r>
                      <a:r>
                        <a:rPr lang="en-US" sz="900">
                          <a:latin typeface="Discover Sans"/>
                          <a:ea typeface="Discover Sans" pitchFamily="2" charset="0"/>
                          <a:hlinkClick r:id="rId8"/>
                        </a:rPr>
                        <a:t>Create Issue in GitHub.</a:t>
                      </a:r>
                      <a:endParaRPr lang="en-US" sz="900">
                        <a:latin typeface="Discover Sans"/>
                        <a:ea typeface="Discover Sans" pitchFamily="2" charset="0"/>
                        <a:hlinkClick r:id="rId7"/>
                      </a:endParaRPr>
                    </a:p>
                    <a:p>
                      <a:pPr marL="628650" lvl="1" indent="-171450" algn="l">
                        <a:buFont typeface="Arial" panose="020B0604020202020204" pitchFamily="34" charset="0"/>
                        <a:buChar char="•"/>
                      </a:pPr>
                      <a:endParaRPr lang="en-US" sz="900">
                        <a:latin typeface="Discover Sans" pitchFamily="2" charset="0"/>
                        <a:ea typeface="Discover Sans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852435"/>
                  </a:ext>
                </a:extLst>
              </a:tr>
              <a:tr h="91345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1">
                          <a:latin typeface="Discover Sans"/>
                          <a:ea typeface="Discover Sans" pitchFamily="2" charset="0"/>
                        </a:rPr>
                        <a:t>External APIs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900" b="0" i="0" u="none" strike="noStrike" noProof="0">
                          <a:latin typeface="Discover Sans" pitchFamily="2" charset="0"/>
                          <a:ea typeface="Discover Sans" pitchFamily="2" charset="0"/>
                        </a:rPr>
                        <a:t>Supports consumption of all Discover APIs exposed via the internet.</a:t>
                      </a:r>
                      <a:endParaRPr lang="en-US">
                        <a:latin typeface="Discover Sans" pitchFamily="2" charset="0"/>
                        <a:ea typeface="Discover Sans" pitchFamily="2" charset="0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algn="l">
                        <a:buFont typeface="Arial"/>
                        <a:buChar char="•"/>
                      </a:pPr>
                      <a:r>
                        <a:rPr lang="en-US" sz="900">
                          <a:latin typeface="Discover Sans"/>
                          <a:ea typeface="Discover Sans" pitchFamily="2" charset="0"/>
                          <a:hlinkClick r:id="rId9"/>
                        </a:rPr>
                        <a:t>External APIs - Resources</a:t>
                      </a:r>
                      <a:endParaRPr lang="en-US" sz="900">
                        <a:latin typeface="Discover Sans"/>
                        <a:ea typeface="Discover Sans" pitchFamily="2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286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900">
                        <a:latin typeface="Discover Sans"/>
                        <a:ea typeface="Discover Sans" pitchFamily="2" charset="0"/>
                        <a:hlinkClick r:id="rId6"/>
                      </a:endParaRPr>
                    </a:p>
                    <a:p>
                      <a:pPr marL="6286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>
                          <a:latin typeface="Discover Sans" pitchFamily="2" charset="0"/>
                          <a:ea typeface="Discover Sans" pitchFamily="2" charset="0"/>
                          <a:hlinkClick r:id="rId4"/>
                        </a:rPr>
                        <a:t>API Management MS Teams Channel</a:t>
                      </a:r>
                      <a:r>
                        <a:rPr lang="en-US" sz="900">
                          <a:latin typeface="Discover Sans" pitchFamily="2" charset="0"/>
                          <a:ea typeface="Discover Sans" pitchFamily="2" charset="0"/>
                        </a:rPr>
                        <a:t>  - </a:t>
                      </a:r>
                      <a:r>
                        <a:rPr lang="en-US" sz="900" b="1">
                          <a:latin typeface="Discover Sans" pitchFamily="2" charset="0"/>
                          <a:ea typeface="Discover Sans" pitchFamily="2" charset="0"/>
                        </a:rPr>
                        <a:t>24/7 Support</a:t>
                      </a:r>
                      <a:endParaRPr lang="en-US" sz="900" b="1">
                        <a:latin typeface="Discover Sans" pitchFamily="2" charset="0"/>
                        <a:ea typeface="Discover Sans" pitchFamily="2" charset="0"/>
                        <a:hlinkClick r:id="rId5"/>
                      </a:endParaRPr>
                    </a:p>
                    <a:p>
                      <a:pPr marL="6286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900">
                        <a:latin typeface="Discover Sans" pitchFamily="2" charset="0"/>
                        <a:ea typeface="Discover Sans" pitchFamily="2" charset="0"/>
                      </a:endParaRPr>
                    </a:p>
                    <a:p>
                      <a:pPr marL="6286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900">
                        <a:latin typeface="Discover Sans"/>
                        <a:ea typeface="Discover Sans" pitchFamily="2" charset="0"/>
                        <a:hlinkClick r:id="rId6"/>
                      </a:endParaRPr>
                    </a:p>
                    <a:p>
                      <a:pPr marL="6286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>
                          <a:latin typeface="Discover Sans"/>
                          <a:ea typeface="Discover Sans" pitchFamily="2" charset="0"/>
                          <a:hlinkClick r:id="rId6"/>
                        </a:rPr>
                        <a:t>API Developer Community</a:t>
                      </a:r>
                      <a:endParaRPr lang="en-US" sz="900">
                        <a:latin typeface="Discover Sans"/>
                        <a:ea typeface="Discover Sans" pitchFamily="2" charset="0"/>
                      </a:endParaRPr>
                    </a:p>
                    <a:p>
                      <a:pPr marL="0" lvl="0" indent="0">
                        <a:buNone/>
                      </a:pPr>
                      <a:endParaRPr lang="en-US" sz="900">
                        <a:latin typeface="Discover Sans"/>
                        <a:ea typeface="Discover Sans" pitchFamily="2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en-US" sz="900">
                          <a:latin typeface="Discover Sans"/>
                          <a:ea typeface="Discover Sans" pitchFamily="2" charset="0"/>
                          <a:hlinkClick r:id="rId7"/>
                        </a:rPr>
                        <a:t>API Issue Solution Archive</a:t>
                      </a:r>
                      <a:endParaRPr lang="en-US" sz="900">
                        <a:latin typeface="Discover Sans"/>
                        <a:ea typeface="Discover Sans" pitchFamily="2" charset="0"/>
                      </a:endParaRPr>
                    </a:p>
                    <a:p>
                      <a:pPr marL="0" lvl="0" indent="0" algn="l">
                        <a:buFont typeface="Arial"/>
                        <a:buNone/>
                      </a:pPr>
                      <a:endParaRPr lang="en-US" sz="900">
                        <a:latin typeface="Discover Sans"/>
                        <a:ea typeface="Discover Sans" pitchFamily="2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28650" marR="0" lvl="2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>
                          <a:latin typeface="Discover Sans" pitchFamily="2" charset="0"/>
                          <a:ea typeface="Discover Sans" pitchFamily="2" charset="0"/>
                          <a:hlinkClick r:id="rId4"/>
                        </a:rPr>
                        <a:t>API Management MS Teams Channel</a:t>
                      </a:r>
                      <a:r>
                        <a:rPr lang="fr-FR" sz="900">
                          <a:latin typeface="Discover Sans" pitchFamily="2" charset="0"/>
                          <a:ea typeface="Discover Sans" pitchFamily="2" charset="0"/>
                        </a:rPr>
                        <a:t>–</a:t>
                      </a:r>
                      <a:r>
                        <a:rPr lang="fr-FR" sz="900" b="1">
                          <a:latin typeface="Discover Sans" pitchFamily="2" charset="0"/>
                          <a:ea typeface="Discover Sans" pitchFamily="2" charset="0"/>
                        </a:rPr>
                        <a:t>24/7 Support</a:t>
                      </a:r>
                      <a:endParaRPr lang="en-US" sz="900" b="1">
                        <a:latin typeface="Discover Sans" pitchFamily="2" charset="0"/>
                        <a:ea typeface="Discover Sans" pitchFamily="2" charset="0"/>
                        <a:hlinkClick r:id="rId5"/>
                      </a:endParaRPr>
                    </a:p>
                    <a:p>
                      <a:pPr marL="628650" marR="0" lvl="2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900">
                        <a:latin typeface="Discover Sans" pitchFamily="2" charset="0"/>
                        <a:ea typeface="Discover Sans" pitchFamily="2" charset="0"/>
                        <a:hlinkClick r:id="rId5"/>
                      </a:endParaRPr>
                    </a:p>
                    <a:p>
                      <a:pPr marL="1714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900" b="1">
                        <a:latin typeface="Discover Sans"/>
                        <a:ea typeface="Discover Sans" pitchFamily="2" charset="0"/>
                      </a:endParaRPr>
                    </a:p>
                    <a:p>
                      <a:pPr marL="628650" marR="0" lvl="2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b="1">
                          <a:latin typeface="Discover Sans"/>
                          <a:ea typeface="Discover Sans" pitchFamily="2" charset="0"/>
                        </a:rPr>
                        <a:t>API Management</a:t>
                      </a:r>
                      <a:r>
                        <a:rPr lang="en-US" sz="900">
                          <a:latin typeface="Discover Sans"/>
                          <a:ea typeface="Discover Sans" pitchFamily="2" charset="0"/>
                        </a:rPr>
                        <a:t>: </a:t>
                      </a:r>
                      <a:r>
                        <a:rPr lang="en-US" sz="900">
                          <a:latin typeface="Discover Sans"/>
                          <a:ea typeface="Discover Sans" pitchFamily="2" charset="0"/>
                          <a:hlinkClick r:id="rId8"/>
                        </a:rPr>
                        <a:t>Create Issue in GitHub.</a:t>
                      </a:r>
                      <a:endParaRPr lang="en-US" sz="900">
                        <a:latin typeface="Discover Sans"/>
                        <a:ea typeface="Discover Sans" pitchFamily="2" charset="0"/>
                        <a:hlinkClick r:id="rId7"/>
                      </a:endParaRPr>
                    </a:p>
                    <a:p>
                      <a:pPr marL="457200" lvl="1" indent="-457200" algn="l">
                        <a:buFont typeface="Arial"/>
                        <a:buNone/>
                      </a:pPr>
                      <a:endParaRPr lang="en-US" sz="900" b="1">
                        <a:latin typeface="Discover Sans"/>
                        <a:ea typeface="Discover Sans" pitchFamily="2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6212476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D8390DCE-3F30-212E-15B0-F0F7C58EEC72}"/>
              </a:ext>
            </a:extLst>
          </p:cNvPr>
          <p:cNvSpPr txBox="1"/>
          <p:nvPr/>
        </p:nvSpPr>
        <p:spPr>
          <a:xfrm>
            <a:off x="597540" y="154865"/>
            <a:ext cx="898677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Discover Sans" pitchFamily="2" charset="0"/>
                <a:ea typeface="Discover Sans" pitchFamily="2" charset="0"/>
                <a:cs typeface="+mn-cs"/>
              </a:rPr>
              <a:t>APIs</a:t>
            </a: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174173CE-E956-B8B1-F40B-F49E2019AC2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08695" y="627116"/>
            <a:ext cx="596900" cy="532826"/>
          </a:xfrm>
          <a:prstGeom prst="rect">
            <a:avLst/>
          </a:prstGeom>
        </p:spPr>
      </p:pic>
      <p:pic>
        <p:nvPicPr>
          <p:cNvPr id="6" name="Picture 5" descr="Graphical user interface, Teams&#10;&#10;Description automatically generated">
            <a:extLst>
              <a:ext uri="{FF2B5EF4-FFF2-40B4-BE49-F238E27FC236}">
                <a16:creationId xmlns:a16="http://schemas.microsoft.com/office/drawing/2014/main" id="{112BCD2F-A0FC-7B17-9C1B-E0362A213722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800"/>
          <a:stretch/>
        </p:blipFill>
        <p:spPr>
          <a:xfrm>
            <a:off x="8377725" y="616513"/>
            <a:ext cx="596900" cy="630200"/>
          </a:xfrm>
          <a:prstGeom prst="rect">
            <a:avLst/>
          </a:prstGeom>
        </p:spPr>
      </p:pic>
      <p:pic>
        <p:nvPicPr>
          <p:cNvPr id="8" name="Picture 7" descr="Graphical user interface, application, Teams&#10;&#10;Description automatically generated">
            <a:extLst>
              <a:ext uri="{FF2B5EF4-FFF2-40B4-BE49-F238E27FC236}">
                <a16:creationId xmlns:a16="http://schemas.microsoft.com/office/drawing/2014/main" id="{891646DE-FD59-7AF4-1200-C1D2811BAEB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0117" y="582232"/>
            <a:ext cx="685093" cy="628854"/>
          </a:xfrm>
          <a:prstGeom prst="rect">
            <a:avLst/>
          </a:prstGeom>
        </p:spPr>
      </p:pic>
      <p:pic>
        <p:nvPicPr>
          <p:cNvPr id="10" name="Picture 9" descr="Graphical user interface, application, Teams&#10;&#10;Description automatically generated">
            <a:extLst>
              <a:ext uri="{FF2B5EF4-FFF2-40B4-BE49-F238E27FC236}">
                <a16:creationId xmlns:a16="http://schemas.microsoft.com/office/drawing/2014/main" id="{B36FF26F-8D30-E14B-5333-4BBF472AE79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3699" y="607649"/>
            <a:ext cx="547227" cy="532826"/>
          </a:xfrm>
          <a:prstGeom prst="rect">
            <a:avLst/>
          </a:prstGeom>
        </p:spPr>
      </p:pic>
      <p:pic>
        <p:nvPicPr>
          <p:cNvPr id="18" name="Picture 17" descr="Icon&#10;&#10;Description automatically generated">
            <a:extLst>
              <a:ext uri="{FF2B5EF4-FFF2-40B4-BE49-F238E27FC236}">
                <a16:creationId xmlns:a16="http://schemas.microsoft.com/office/drawing/2014/main" id="{A8E94B70-27B0-405D-ED44-64F38141CFB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8508" y="3633464"/>
            <a:ext cx="314981" cy="304303"/>
          </a:xfrm>
          <a:prstGeom prst="rect">
            <a:avLst/>
          </a:prstGeom>
        </p:spPr>
      </p:pic>
      <p:pic>
        <p:nvPicPr>
          <p:cNvPr id="20" name="Picture 19" descr="Icon&#10;&#10;Description automatically generated">
            <a:extLst>
              <a:ext uri="{FF2B5EF4-FFF2-40B4-BE49-F238E27FC236}">
                <a16:creationId xmlns:a16="http://schemas.microsoft.com/office/drawing/2014/main" id="{5F9B0089-28CA-A80C-1228-38B05B4D6DC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8509" y="2337058"/>
            <a:ext cx="314981" cy="304303"/>
          </a:xfrm>
          <a:prstGeom prst="rect">
            <a:avLst/>
          </a:prstGeom>
        </p:spPr>
      </p:pic>
      <p:pic>
        <p:nvPicPr>
          <p:cNvPr id="12" name="Picture 11" descr="Graphical user interface, application, Teams&#10;&#10;Description automatically generated">
            <a:extLst>
              <a:ext uri="{FF2B5EF4-FFF2-40B4-BE49-F238E27FC236}">
                <a16:creationId xmlns:a16="http://schemas.microsoft.com/office/drawing/2014/main" id="{12880FEC-E2AC-5880-0519-72D7D4277CE5}"/>
              </a:ext>
            </a:extLst>
          </p:cNvPr>
          <p:cNvPicPr>
            <a:picLocks noChangeAspect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50" r="10025"/>
          <a:stretch/>
        </p:blipFill>
        <p:spPr>
          <a:xfrm>
            <a:off x="5938508" y="1795381"/>
            <a:ext cx="314982" cy="324497"/>
          </a:xfrm>
          <a:prstGeom prst="rect">
            <a:avLst/>
          </a:prstGeom>
        </p:spPr>
      </p:pic>
      <p:pic>
        <p:nvPicPr>
          <p:cNvPr id="13" name="Picture 12" descr="Graphical user interface, application, Teams&#10;&#10;Description automatically generated">
            <a:extLst>
              <a:ext uri="{FF2B5EF4-FFF2-40B4-BE49-F238E27FC236}">
                <a16:creationId xmlns:a16="http://schemas.microsoft.com/office/drawing/2014/main" id="{E0C502C4-F0DD-F93B-A38D-E692C87AFE9F}"/>
              </a:ext>
            </a:extLst>
          </p:cNvPr>
          <p:cNvPicPr>
            <a:picLocks noChangeAspect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50" r="10025"/>
          <a:stretch/>
        </p:blipFill>
        <p:spPr>
          <a:xfrm>
            <a:off x="5938508" y="3010693"/>
            <a:ext cx="314982" cy="324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572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E4C7489-7F9E-3472-C5B3-B578387CBE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38300" y="1954213"/>
            <a:ext cx="9144000" cy="1655762"/>
          </a:xfrm>
        </p:spPr>
        <p:txBody>
          <a:bodyPr anchor="ctr">
            <a:normAutofit/>
          </a:bodyPr>
          <a:lstStyle/>
          <a:p>
            <a:r>
              <a:rPr lang="en-US" sz="4400" b="1">
                <a:solidFill>
                  <a:schemeClr val="accent2"/>
                </a:solidFill>
              </a:rPr>
              <a:t>Previous Versions</a:t>
            </a:r>
          </a:p>
        </p:txBody>
      </p:sp>
    </p:spTree>
    <p:extLst>
      <p:ext uri="{BB962C8B-B14F-4D97-AF65-F5344CB8AC3E}">
        <p14:creationId xmlns:p14="http://schemas.microsoft.com/office/powerpoint/2010/main" val="21013473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1F57DCF3-4919-AECA-12A9-F1DCC68A09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9940655"/>
              </p:ext>
            </p:extLst>
          </p:nvPr>
        </p:nvGraphicFramePr>
        <p:xfrm>
          <a:off x="131135" y="649280"/>
          <a:ext cx="11929730" cy="56229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9031">
                  <a:extLst>
                    <a:ext uri="{9D8B030D-6E8A-4147-A177-3AD203B41FA5}">
                      <a16:colId xmlns:a16="http://schemas.microsoft.com/office/drawing/2014/main" val="513794599"/>
                    </a:ext>
                  </a:extLst>
                </a:gridCol>
                <a:gridCol w="1531848">
                  <a:extLst>
                    <a:ext uri="{9D8B030D-6E8A-4147-A177-3AD203B41FA5}">
                      <a16:colId xmlns:a16="http://schemas.microsoft.com/office/drawing/2014/main" val="1925627750"/>
                    </a:ext>
                  </a:extLst>
                </a:gridCol>
                <a:gridCol w="1282091">
                  <a:extLst>
                    <a:ext uri="{9D8B030D-6E8A-4147-A177-3AD203B41FA5}">
                      <a16:colId xmlns:a16="http://schemas.microsoft.com/office/drawing/2014/main" val="3825691558"/>
                    </a:ext>
                  </a:extLst>
                </a:gridCol>
                <a:gridCol w="2039691">
                  <a:extLst>
                    <a:ext uri="{9D8B030D-6E8A-4147-A177-3AD203B41FA5}">
                      <a16:colId xmlns:a16="http://schemas.microsoft.com/office/drawing/2014/main" val="284105150"/>
                    </a:ext>
                  </a:extLst>
                </a:gridCol>
                <a:gridCol w="1132236">
                  <a:extLst>
                    <a:ext uri="{9D8B030D-6E8A-4147-A177-3AD203B41FA5}">
                      <a16:colId xmlns:a16="http://schemas.microsoft.com/office/drawing/2014/main" val="1482462965"/>
                    </a:ext>
                  </a:extLst>
                </a:gridCol>
                <a:gridCol w="1259873">
                  <a:extLst>
                    <a:ext uri="{9D8B030D-6E8A-4147-A177-3AD203B41FA5}">
                      <a16:colId xmlns:a16="http://schemas.microsoft.com/office/drawing/2014/main" val="2691108918"/>
                    </a:ext>
                  </a:extLst>
                </a:gridCol>
                <a:gridCol w="1149124">
                  <a:extLst>
                    <a:ext uri="{9D8B030D-6E8A-4147-A177-3AD203B41FA5}">
                      <a16:colId xmlns:a16="http://schemas.microsoft.com/office/drawing/2014/main" val="2238053725"/>
                    </a:ext>
                  </a:extLst>
                </a:gridCol>
                <a:gridCol w="1157161">
                  <a:extLst>
                    <a:ext uri="{9D8B030D-6E8A-4147-A177-3AD203B41FA5}">
                      <a16:colId xmlns:a16="http://schemas.microsoft.com/office/drawing/2014/main" val="1196281438"/>
                    </a:ext>
                  </a:extLst>
                </a:gridCol>
                <a:gridCol w="1378675">
                  <a:extLst>
                    <a:ext uri="{9D8B030D-6E8A-4147-A177-3AD203B41FA5}">
                      <a16:colId xmlns:a16="http://schemas.microsoft.com/office/drawing/2014/main" val="3288551688"/>
                    </a:ext>
                  </a:extLst>
                </a:gridCol>
              </a:tblGrid>
              <a:tr h="540498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Tool /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Support Group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For general support questions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Submit an Issue (non-critical issue or non-outage)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Submit an incident (production or major outage)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Response Estimate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Escalations for urgent issues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General Information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1637515"/>
                  </a:ext>
                </a:extLst>
              </a:tr>
              <a:tr h="913450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Trident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Discover product for automating the continuous delivery and continuous integration process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+mn-lt"/>
                        </a:rPr>
                        <a:t>CICD 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>
                          <a:latin typeface="+mn-lt"/>
                          <a:hlinkClick r:id="rId4"/>
                        </a:rPr>
                        <a:t>Continuous Delivery Yammer Group</a:t>
                      </a:r>
                      <a:endParaRPr lang="en-US" sz="1000">
                        <a:latin typeface="+mn-lt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1000">
                        <a:latin typeface="+mn-lt"/>
                        <a:hlinkClick r:id="rId5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>
                          <a:latin typeface="+mn-lt"/>
                          <a:hlinkClick r:id="rId5"/>
                        </a:rPr>
                        <a:t>Trident Office Hours</a:t>
                      </a:r>
                      <a:endParaRPr lang="en-US" sz="100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+mn-lt"/>
                          <a:hlinkClick r:id="rId6"/>
                        </a:rPr>
                        <a:t>CICD Support Tickets</a:t>
                      </a:r>
                      <a:endParaRPr lang="en-US" sz="100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00">
                          <a:latin typeface="+mn-lt"/>
                          <a:hlinkClick r:id="rId7"/>
                        </a:rPr>
                        <a:t>ServiceNow Incident Ticket</a:t>
                      </a:r>
                      <a:r>
                        <a:rPr lang="en-US" sz="1000">
                          <a:latin typeface="+mn-lt"/>
                          <a:hlinkClick r:id="rId8"/>
                        </a:rPr>
                        <a:t>. </a:t>
                      </a:r>
                      <a:r>
                        <a:rPr lang="en-US" sz="1000">
                          <a:latin typeface="+mn-lt"/>
                        </a:rPr>
                        <a:t> Assign ServiceNow Incident to EA-CICD.</a:t>
                      </a:r>
                    </a:p>
                    <a:p>
                      <a:pPr algn="ctr"/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latin typeface="+mn-lt"/>
                        </a:rPr>
                        <a:t>1 business day, if more information is needed</a:t>
                      </a:r>
                    </a:p>
                    <a:p>
                      <a:pPr algn="ctr"/>
                      <a:endParaRPr lang="en-US" sz="1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latin typeface="+mn-lt"/>
                          <a:hlinkClick r:id="rId9"/>
                        </a:rPr>
                        <a:t>cdi@discover.com</a:t>
                      </a:r>
                      <a:endParaRPr lang="en-US" sz="1000">
                        <a:latin typeface="+mn-lt"/>
                      </a:endParaRPr>
                    </a:p>
                    <a:p>
                      <a:pPr algn="ctr"/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000">
                          <a:hlinkClick r:id="rId10"/>
                        </a:rPr>
                        <a:t>Trident Documentation</a:t>
                      </a:r>
                    </a:p>
                    <a:p>
                      <a:pPr marL="171450" lvl="0" indent="-171450" algn="l">
                        <a:buFont typeface="Arial" panose="020B0604020202020204" pitchFamily="34" charset="0"/>
                        <a:buChar char="•"/>
                      </a:pPr>
                      <a:endParaRPr lang="en-US" sz="1000"/>
                    </a:p>
                    <a:p>
                      <a:pPr marL="171450" lvl="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000"/>
                        <a:t>How to use Trident (more pointed)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852435"/>
                  </a:ext>
                </a:extLst>
              </a:tr>
              <a:tr h="990913"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latin typeface="+mn-lt"/>
                        </a:rPr>
                        <a:t>Jenkins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Automation platform for CI and CD that manages and controls software delivery processes throughout the entire lifecycle.</a:t>
                      </a:r>
                      <a:endParaRPr lang="en-US" sz="100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+mn-lt"/>
                        </a:rPr>
                        <a:t>CICD 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>
                          <a:latin typeface="+mn-lt"/>
                          <a:hlinkClick r:id="rId4"/>
                        </a:rPr>
                        <a:t>Continuous Delivery Yammer Group</a:t>
                      </a:r>
                      <a:endParaRPr lang="en-US" sz="1000">
                        <a:latin typeface="+mn-lt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1000">
                        <a:latin typeface="+mn-lt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>
                          <a:latin typeface="+mn-lt"/>
                          <a:hlinkClick r:id="rId11"/>
                        </a:rPr>
                        <a:t>Continuous Integration / Continuous Delivery Office Hours</a:t>
                      </a:r>
                      <a:endParaRPr lang="en-US" sz="100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+mn-lt"/>
                          <a:hlinkClick r:id="rId6"/>
                        </a:rPr>
                        <a:t>CICD Support Tickets</a:t>
                      </a:r>
                      <a:endParaRPr lang="en-US" sz="100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000">
                          <a:latin typeface="+mn-lt"/>
                          <a:hlinkClick r:id="rId7"/>
                        </a:rPr>
                        <a:t>ServiceNow Incident Ticket. </a:t>
                      </a:r>
                      <a:r>
                        <a:rPr lang="en-US" sz="1000">
                          <a:latin typeface="+mn-lt"/>
                        </a:rPr>
                        <a:t>Assign ServiceNow Incident to EA-CICD 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+mn-lt"/>
                        </a:rPr>
                        <a:t>1 business day, if more information is needed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+mn-lt"/>
                          <a:hlinkClick r:id="rId9"/>
                        </a:rPr>
                        <a:t>cdi@discover.com</a:t>
                      </a:r>
                      <a:endParaRPr lang="en-US" sz="1000">
                        <a:latin typeface="+mn-lt"/>
                      </a:endParaRPr>
                    </a:p>
                    <a:p>
                      <a:endParaRPr lang="en-US" sz="100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>
                          <a:latin typeface="+mn-lt"/>
                          <a:hlinkClick r:id="rId12"/>
                        </a:rPr>
                        <a:t>CICD Tools: Jenkins</a:t>
                      </a:r>
                      <a:endParaRPr lang="en-US" sz="1000">
                        <a:latin typeface="+mn-lt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1000">
                        <a:latin typeface="+mn-lt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>
                          <a:latin typeface="+mn-lt"/>
                          <a:hlinkClick r:id="rId13"/>
                        </a:rPr>
                        <a:t>Self-Service: Jenkins</a:t>
                      </a:r>
                      <a:endParaRPr lang="en-US" sz="100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7786150"/>
                  </a:ext>
                </a:extLst>
              </a:tr>
              <a:tr h="990913"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latin typeface="+mn-lt"/>
                        </a:rPr>
                        <a:t>Harness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+mn-lt"/>
                        </a:rPr>
                        <a:t>Deployment tool that promotes self servicing deployments with automation throughout the Continuous Delivery pipeline.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+mn-lt"/>
                        </a:rPr>
                        <a:t>CICD 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>
                          <a:latin typeface="+mn-lt"/>
                          <a:hlinkClick r:id="rId4"/>
                        </a:rPr>
                        <a:t>Continuous Delivery Yammer Group</a:t>
                      </a:r>
                      <a:endParaRPr lang="en-US" sz="1000">
                        <a:latin typeface="+mn-lt"/>
                      </a:endParaRPr>
                    </a:p>
                    <a:p>
                      <a:endParaRPr lang="en-US" sz="1000">
                        <a:latin typeface="+mn-lt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>
                          <a:latin typeface="+mn-lt"/>
                          <a:hlinkClick r:id="rId11"/>
                        </a:rPr>
                        <a:t>Continuous Integration / Continuous Delivery Office Hours</a:t>
                      </a:r>
                      <a:endParaRPr lang="en-US" sz="100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latin typeface="+mn-lt"/>
                          <a:hlinkClick r:id="rId6"/>
                        </a:rPr>
                        <a:t>CICD Support Tickets</a:t>
                      </a:r>
                      <a:endParaRPr lang="en-US" sz="100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latin typeface="+mn-lt"/>
                          <a:hlinkClick r:id="rId7"/>
                        </a:rPr>
                        <a:t>ServiceNow Incident Ticket. </a:t>
                      </a:r>
                      <a:r>
                        <a:rPr lang="en-US" sz="1000">
                          <a:latin typeface="+mn-lt"/>
                        </a:rPr>
                        <a:t>Submit ServiceNow Incident to EA-CICD 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latin typeface="+mn-lt"/>
                        </a:rPr>
                        <a:t>1 business day, if more information is needed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latin typeface="+mn-lt"/>
                          <a:hlinkClick r:id="rId9"/>
                        </a:rPr>
                        <a:t>cdi@discover.com</a:t>
                      </a:r>
                      <a:endParaRPr lang="en-US" sz="100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>
                          <a:latin typeface="+mn-lt"/>
                          <a:hlinkClick r:id="rId14"/>
                        </a:rPr>
                        <a:t>CICD Tools: Harness</a:t>
                      </a:r>
                      <a:endParaRPr lang="en-US" sz="1000">
                        <a:latin typeface="+mn-lt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1000">
                        <a:latin typeface="+mn-lt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>
                          <a:latin typeface="+mn-lt"/>
                          <a:hlinkClick r:id="rId15"/>
                        </a:rPr>
                        <a:t>Self-Service: Harness</a:t>
                      </a:r>
                      <a:endParaRPr lang="en-US" sz="100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7354072"/>
                  </a:ext>
                </a:extLst>
              </a:tr>
              <a:tr h="990913"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latin typeface="+mn-lt"/>
                        </a:rPr>
                        <a:t>Gradle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+mn-lt"/>
                        </a:rPr>
                        <a:t>General purpose build tool primarily used for java artifact builds.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+mn-lt"/>
                        </a:rPr>
                        <a:t>CICD 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>
                          <a:latin typeface="+mn-lt"/>
                          <a:hlinkClick r:id="rId4"/>
                        </a:rPr>
                        <a:t>Continuous Delivery Yammer Group</a:t>
                      </a:r>
                      <a:endParaRPr lang="en-US" sz="100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latin typeface="+mn-lt"/>
                          <a:hlinkClick r:id="rId6"/>
                        </a:rPr>
                        <a:t>CICD Support Tickets</a:t>
                      </a:r>
                      <a:endParaRPr lang="en-US" sz="100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latin typeface="+mn-lt"/>
                          <a:hlinkClick r:id="rId7"/>
                        </a:rPr>
                        <a:t>ServiceNow Incident Ticket. </a:t>
                      </a:r>
                      <a:r>
                        <a:rPr lang="en-US" sz="1000">
                          <a:latin typeface="+mn-lt"/>
                        </a:rPr>
                        <a:t>Submit ServiceNow Incident to EA-CICD group.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latin typeface="+mn-lt"/>
                        </a:rPr>
                        <a:t>1 business day, if more information is needed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latin typeface="+mn-lt"/>
                          <a:hlinkClick r:id="rId9"/>
                        </a:rPr>
                        <a:t>cdi@discover.com</a:t>
                      </a:r>
                      <a:endParaRPr lang="en-US" sz="1000">
                        <a:latin typeface="+mn-lt"/>
                      </a:endParaRPr>
                    </a:p>
                    <a:p>
                      <a:endParaRPr lang="en-US" sz="100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>
                          <a:latin typeface="+mn-lt"/>
                          <a:hlinkClick r:id="rId16"/>
                        </a:rPr>
                        <a:t>CICD Tools: Gradle</a:t>
                      </a:r>
                      <a:endParaRPr lang="en-US" sz="100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0667805"/>
                  </a:ext>
                </a:extLst>
              </a:tr>
              <a:tr h="1141051"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latin typeface="+mn-lt"/>
                        </a:rPr>
                        <a:t>SonarQube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+mn-lt"/>
                        </a:rPr>
                        <a:t>Open platform to manage code quality.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+mn-lt"/>
                        </a:rPr>
                        <a:t>CICD 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>
                          <a:latin typeface="+mn-lt"/>
                          <a:hlinkClick r:id="rId4"/>
                        </a:rPr>
                        <a:t>Continuous Delivery Yammer Group</a:t>
                      </a:r>
                      <a:endParaRPr lang="en-US" sz="1000">
                        <a:latin typeface="+mn-lt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1000">
                        <a:latin typeface="+mn-lt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>
                          <a:latin typeface="+mn-lt"/>
                          <a:hlinkClick r:id="rId11"/>
                        </a:rPr>
                        <a:t>Continuous Integration / Continuous Delivery Office Hours</a:t>
                      </a:r>
                      <a:endParaRPr lang="en-US" sz="1000">
                        <a:latin typeface="+mn-lt"/>
                      </a:endParaRPr>
                    </a:p>
                    <a:p>
                      <a:endParaRPr lang="en-US" sz="1000" b="1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latin typeface="+mn-lt"/>
                          <a:hlinkClick r:id="rId6"/>
                        </a:rPr>
                        <a:t>CICD Support Tickets</a:t>
                      </a:r>
                      <a:endParaRPr lang="en-US" sz="1000">
                        <a:latin typeface="+mn-lt"/>
                      </a:endParaRPr>
                    </a:p>
                    <a:p>
                      <a:endParaRPr lang="en-US" sz="100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latin typeface="+mn-lt"/>
                          <a:hlinkClick r:id="rId7"/>
                        </a:rPr>
                        <a:t>ServiceNow Incident Ticket. </a:t>
                      </a:r>
                      <a:r>
                        <a:rPr lang="en-US" sz="1000">
                          <a:latin typeface="+mn-lt"/>
                        </a:rPr>
                        <a:t>Submit ServiceNow Incident to EA-CICD group.</a:t>
                      </a:r>
                    </a:p>
                    <a:p>
                      <a:endParaRPr lang="en-US" sz="100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latin typeface="+mn-lt"/>
                        </a:rPr>
                        <a:t>1 business day, if more information is needed</a:t>
                      </a:r>
                    </a:p>
                    <a:p>
                      <a:endParaRPr lang="en-US" sz="100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latin typeface="+mn-lt"/>
                          <a:hlinkClick r:id="rId9"/>
                        </a:rPr>
                        <a:t>cdi@discover.com</a:t>
                      </a:r>
                      <a:endParaRPr lang="en-US" sz="1000">
                        <a:latin typeface="+mn-lt"/>
                      </a:endParaRPr>
                    </a:p>
                    <a:p>
                      <a:endParaRPr lang="en-US" sz="100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>
                          <a:latin typeface="+mn-lt"/>
                          <a:hlinkClick r:id="rId17"/>
                        </a:rPr>
                        <a:t>CICD Tools: SonarQube</a:t>
                      </a:r>
                      <a:endParaRPr lang="en-US" sz="1000">
                        <a:latin typeface="+mn-lt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1000">
                        <a:latin typeface="+mn-lt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>
                          <a:latin typeface="+mn-lt"/>
                          <a:hlinkClick r:id="rId18"/>
                        </a:rPr>
                        <a:t>Self-Service: SonarQube</a:t>
                      </a:r>
                      <a:endParaRPr lang="en-US" sz="100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9366170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D8390DCE-3F30-212E-15B0-F0F7C58EEC72}"/>
              </a:ext>
            </a:extLst>
          </p:cNvPr>
          <p:cNvSpPr txBox="1"/>
          <p:nvPr/>
        </p:nvSpPr>
        <p:spPr>
          <a:xfrm>
            <a:off x="148853" y="244550"/>
            <a:ext cx="3689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Continuous Delivery Tools</a:t>
            </a:r>
          </a:p>
        </p:txBody>
      </p:sp>
    </p:spTree>
    <p:extLst>
      <p:ext uri="{BB962C8B-B14F-4D97-AF65-F5344CB8AC3E}">
        <p14:creationId xmlns:p14="http://schemas.microsoft.com/office/powerpoint/2010/main" val="58941129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1F57DCF3-4919-AECA-12A9-F1DCC68A09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2233494"/>
              </p:ext>
            </p:extLst>
          </p:nvPr>
        </p:nvGraphicFramePr>
        <p:xfrm>
          <a:off x="131135" y="785368"/>
          <a:ext cx="11929730" cy="47624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9031">
                  <a:extLst>
                    <a:ext uri="{9D8B030D-6E8A-4147-A177-3AD203B41FA5}">
                      <a16:colId xmlns:a16="http://schemas.microsoft.com/office/drawing/2014/main" val="513794599"/>
                    </a:ext>
                  </a:extLst>
                </a:gridCol>
                <a:gridCol w="1531848">
                  <a:extLst>
                    <a:ext uri="{9D8B030D-6E8A-4147-A177-3AD203B41FA5}">
                      <a16:colId xmlns:a16="http://schemas.microsoft.com/office/drawing/2014/main" val="1925627750"/>
                    </a:ext>
                  </a:extLst>
                </a:gridCol>
                <a:gridCol w="1282091">
                  <a:extLst>
                    <a:ext uri="{9D8B030D-6E8A-4147-A177-3AD203B41FA5}">
                      <a16:colId xmlns:a16="http://schemas.microsoft.com/office/drawing/2014/main" val="3825691558"/>
                    </a:ext>
                  </a:extLst>
                </a:gridCol>
                <a:gridCol w="2039691">
                  <a:extLst>
                    <a:ext uri="{9D8B030D-6E8A-4147-A177-3AD203B41FA5}">
                      <a16:colId xmlns:a16="http://schemas.microsoft.com/office/drawing/2014/main" val="284105150"/>
                    </a:ext>
                  </a:extLst>
                </a:gridCol>
                <a:gridCol w="1132236">
                  <a:extLst>
                    <a:ext uri="{9D8B030D-6E8A-4147-A177-3AD203B41FA5}">
                      <a16:colId xmlns:a16="http://schemas.microsoft.com/office/drawing/2014/main" val="1482462965"/>
                    </a:ext>
                  </a:extLst>
                </a:gridCol>
                <a:gridCol w="1259873">
                  <a:extLst>
                    <a:ext uri="{9D8B030D-6E8A-4147-A177-3AD203B41FA5}">
                      <a16:colId xmlns:a16="http://schemas.microsoft.com/office/drawing/2014/main" val="2691108918"/>
                    </a:ext>
                  </a:extLst>
                </a:gridCol>
                <a:gridCol w="1149124">
                  <a:extLst>
                    <a:ext uri="{9D8B030D-6E8A-4147-A177-3AD203B41FA5}">
                      <a16:colId xmlns:a16="http://schemas.microsoft.com/office/drawing/2014/main" val="2238053725"/>
                    </a:ext>
                  </a:extLst>
                </a:gridCol>
                <a:gridCol w="1157161">
                  <a:extLst>
                    <a:ext uri="{9D8B030D-6E8A-4147-A177-3AD203B41FA5}">
                      <a16:colId xmlns:a16="http://schemas.microsoft.com/office/drawing/2014/main" val="1196281438"/>
                    </a:ext>
                  </a:extLst>
                </a:gridCol>
                <a:gridCol w="1378675">
                  <a:extLst>
                    <a:ext uri="{9D8B030D-6E8A-4147-A177-3AD203B41FA5}">
                      <a16:colId xmlns:a16="http://schemas.microsoft.com/office/drawing/2014/main" val="3288551688"/>
                    </a:ext>
                  </a:extLst>
                </a:gridCol>
              </a:tblGrid>
              <a:tr h="540498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Tool /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Support Group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For general support questions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Submit an Issue (pre-production)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Submit an incident (production or major outage)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Response Estimate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Escalations for urgent issues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General Information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1637515"/>
                  </a:ext>
                </a:extLst>
              </a:tr>
              <a:tr h="739109"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latin typeface="+mn-lt"/>
                        </a:rPr>
                        <a:t>Nexus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+mn-lt"/>
                        </a:rPr>
                        <a:t>Artifact repository manager that allows you to proxy, collect, and manage dependencies.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+mn-lt"/>
                        </a:rPr>
                        <a:t>CICD 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>
                          <a:latin typeface="+mn-lt"/>
                          <a:hlinkClick r:id="rId2"/>
                        </a:rPr>
                        <a:t>Continuous Delivery Yammer Group</a:t>
                      </a:r>
                      <a:endParaRPr lang="en-US" sz="100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latin typeface="+mn-lt"/>
                          <a:hlinkClick r:id="rId3"/>
                        </a:rPr>
                        <a:t>CICD Support Tickets</a:t>
                      </a:r>
                      <a:endParaRPr lang="en-US" sz="100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latin typeface="+mn-lt"/>
                          <a:hlinkClick r:id="rId4"/>
                        </a:rPr>
                        <a:t>ServiceNow Incident Ticket. </a:t>
                      </a:r>
                      <a:r>
                        <a:rPr lang="en-US" sz="1000">
                          <a:latin typeface="+mn-lt"/>
                        </a:rPr>
                        <a:t>Submit ServiceNow Incident to EA-CICD group.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latin typeface="+mn-lt"/>
                        </a:rPr>
                        <a:t>1 business day, if more information is needed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latin typeface="+mn-lt"/>
                          <a:hlinkClick r:id="rId5"/>
                        </a:rPr>
                        <a:t>cdi@discover.com</a:t>
                      </a:r>
                      <a:endParaRPr lang="en-US" sz="100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>
                          <a:latin typeface="+mn-lt"/>
                          <a:hlinkClick r:id="rId6"/>
                        </a:rPr>
                        <a:t>CICD Tools: Nexus</a:t>
                      </a:r>
                      <a:endParaRPr lang="en-US" sz="1000">
                        <a:latin typeface="+mn-lt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1000">
                        <a:latin typeface="+mn-lt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>
                          <a:latin typeface="+mn-lt"/>
                          <a:hlinkClick r:id="rId7"/>
                        </a:rPr>
                        <a:t>Self-Service: Nexus</a:t>
                      </a:r>
                      <a:endParaRPr lang="en-US" sz="100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1891992"/>
                  </a:ext>
                </a:extLst>
              </a:tr>
              <a:tr h="739109">
                <a:tc>
                  <a:txBody>
                    <a:bodyPr/>
                    <a:lstStyle/>
                    <a:p>
                      <a:pPr algn="l"/>
                      <a:r>
                        <a:rPr lang="en-US" sz="1000" err="1">
                          <a:latin typeface="+mn-lt"/>
                        </a:rPr>
                        <a:t>NexusIQ</a:t>
                      </a:r>
                      <a:endParaRPr lang="en-US" sz="100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+mn-lt"/>
                        </a:rPr>
                        <a:t>Security policy and license management engine for opensource components.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+mn-lt"/>
                        </a:rPr>
                        <a:t>CICD 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>
                          <a:latin typeface="+mn-lt"/>
                          <a:hlinkClick r:id="rId2"/>
                        </a:rPr>
                        <a:t>Continuous Delivery Yammer Group</a:t>
                      </a:r>
                      <a:endParaRPr lang="en-US" sz="1000">
                        <a:latin typeface="+mn-lt"/>
                      </a:endParaRPr>
                    </a:p>
                    <a:p>
                      <a:endParaRPr lang="en-US" sz="1000">
                        <a:latin typeface="+mn-lt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>
                          <a:latin typeface="+mn-lt"/>
                          <a:hlinkClick r:id="rId8"/>
                        </a:rPr>
                        <a:t>Continuous Integration / Continuous Delivery Office Hours</a:t>
                      </a:r>
                      <a:endParaRPr lang="en-US" sz="100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latin typeface="+mn-lt"/>
                          <a:hlinkClick r:id="rId3"/>
                        </a:rPr>
                        <a:t>CICD Support Tickets</a:t>
                      </a:r>
                      <a:endParaRPr lang="en-US" sz="100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latin typeface="+mn-lt"/>
                          <a:hlinkClick r:id="rId4"/>
                        </a:rPr>
                        <a:t>ServiceNow Incident Ticket. </a:t>
                      </a:r>
                      <a:r>
                        <a:rPr lang="en-US" sz="1000">
                          <a:latin typeface="+mn-lt"/>
                        </a:rPr>
                        <a:t>Submit ServiceNow Incident to EA-CICD group.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latin typeface="+mn-lt"/>
                        </a:rPr>
                        <a:t>1 business day, if more information is needed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latin typeface="+mn-lt"/>
                          <a:hlinkClick r:id="rId5"/>
                        </a:rPr>
                        <a:t>cdi@discover.com</a:t>
                      </a:r>
                      <a:endParaRPr lang="en-US" sz="100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>
                          <a:latin typeface="+mn-lt"/>
                          <a:hlinkClick r:id="rId9"/>
                        </a:rPr>
                        <a:t>NexusIQ OSS Adoption</a:t>
                      </a:r>
                      <a:endParaRPr lang="en-US" sz="1000">
                        <a:latin typeface="+mn-lt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1000">
                        <a:latin typeface="+mn-lt"/>
                        <a:hlinkClick r:id="rId1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>
                          <a:latin typeface="+mn-lt"/>
                          <a:hlinkClick r:id="rId10"/>
                        </a:rPr>
                        <a:t>CICD Tools: NexusIQ</a:t>
                      </a:r>
                      <a:endParaRPr lang="en-US" sz="1000">
                        <a:latin typeface="+mn-lt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1000">
                        <a:latin typeface="+mn-lt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>
                          <a:latin typeface="+mn-lt"/>
                          <a:hlinkClick r:id="rId9"/>
                        </a:rPr>
                        <a:t>Self-Service: NexusIQ</a:t>
                      </a:r>
                      <a:endParaRPr lang="en-US" sz="100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7411100"/>
                  </a:ext>
                </a:extLst>
              </a:tr>
              <a:tr h="739109"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latin typeface="+mn-lt"/>
                        </a:rPr>
                        <a:t>GitHub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Version control system that provides capabilities for collaboration, automation and CI/CD. </a:t>
                      </a:r>
                      <a:endParaRPr lang="en-US" sz="100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+mn-lt"/>
                        </a:rPr>
                        <a:t>CICD 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>
                          <a:latin typeface="+mn-lt"/>
                          <a:hlinkClick r:id="rId2"/>
                        </a:rPr>
                        <a:t>Continuous Delivery Yammer Group</a:t>
                      </a:r>
                      <a:endParaRPr lang="en-US" sz="1000">
                        <a:latin typeface="+mn-lt"/>
                      </a:endParaRPr>
                    </a:p>
                    <a:p>
                      <a:endParaRPr lang="en-US" sz="1000">
                        <a:latin typeface="+mn-lt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>
                          <a:latin typeface="+mn-lt"/>
                          <a:hlinkClick r:id="rId8"/>
                        </a:rPr>
                        <a:t>Continuous Integration / Continuous Delivery Office Hours</a:t>
                      </a:r>
                      <a:endParaRPr lang="en-US" sz="100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latin typeface="+mn-lt"/>
                          <a:hlinkClick r:id="rId3"/>
                        </a:rPr>
                        <a:t>CICD Support Tickets</a:t>
                      </a:r>
                      <a:endParaRPr lang="en-US" sz="100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latin typeface="+mn-lt"/>
                          <a:hlinkClick r:id="rId4"/>
                        </a:rPr>
                        <a:t>ServiceNow Incident Ticket. </a:t>
                      </a:r>
                      <a:r>
                        <a:rPr lang="en-US" sz="1000">
                          <a:latin typeface="+mn-lt"/>
                        </a:rPr>
                        <a:t>Submit ServiceNow Incident to EA-CICD group.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latin typeface="+mn-lt"/>
                        </a:rPr>
                        <a:t>1 business day, if more information is needed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latin typeface="+mn-lt"/>
                          <a:hlinkClick r:id="rId5"/>
                        </a:rPr>
                        <a:t>cdi@discover.com</a:t>
                      </a:r>
                      <a:endParaRPr lang="en-US" sz="100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>
                          <a:latin typeface="+mn-lt"/>
                          <a:hlinkClick r:id="rId11"/>
                        </a:rPr>
                        <a:t>CICD Tools: GitHub</a:t>
                      </a:r>
                      <a:endParaRPr lang="en-US" sz="1000">
                        <a:latin typeface="+mn-lt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1000">
                        <a:latin typeface="+mn-lt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>
                          <a:latin typeface="+mn-lt"/>
                          <a:hlinkClick r:id="rId12"/>
                        </a:rPr>
                        <a:t>Self-Service: GitHub</a:t>
                      </a:r>
                      <a:endParaRPr lang="en-US" sz="100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6303615"/>
                  </a:ext>
                </a:extLst>
              </a:tr>
              <a:tr h="739109"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latin typeface="+mn-lt"/>
                        </a:rPr>
                        <a:t>Artifactory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+mn-lt"/>
                        </a:rPr>
                        <a:t>Artifact repository manager that will be used as a private Docker registry to store and manage container images.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+mn-lt"/>
                        </a:rPr>
                        <a:t>CICD 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>
                          <a:latin typeface="+mn-lt"/>
                          <a:hlinkClick r:id="rId2"/>
                        </a:rPr>
                        <a:t>Continuous Delivery Yammer Group</a:t>
                      </a:r>
                      <a:endParaRPr lang="en-US" sz="1000">
                        <a:latin typeface="+mn-lt"/>
                      </a:endParaRPr>
                    </a:p>
                    <a:p>
                      <a:endParaRPr lang="en-US" sz="1000">
                        <a:latin typeface="+mn-lt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>
                          <a:latin typeface="+mn-lt"/>
                          <a:hlinkClick r:id="rId8"/>
                        </a:rPr>
                        <a:t>Continuous Integration / Continuous Delivery Office Hours</a:t>
                      </a:r>
                      <a:endParaRPr lang="en-US" sz="1000">
                        <a:latin typeface="+mn-lt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latin typeface="+mn-lt"/>
                          <a:hlinkClick r:id="rId3"/>
                        </a:rPr>
                        <a:t>CICD Support Tickets</a:t>
                      </a:r>
                      <a:endParaRPr lang="en-US" sz="1000">
                        <a:latin typeface="+mn-lt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latin typeface="+mn-lt"/>
                          <a:hlinkClick r:id="rId4"/>
                        </a:rPr>
                        <a:t>ServiceNow Incident Ticket. </a:t>
                      </a:r>
                      <a:r>
                        <a:rPr lang="en-US" sz="1000">
                          <a:latin typeface="+mn-lt"/>
                        </a:rPr>
                        <a:t>Submit ServiceNow Incident to EA-CICD 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latin typeface="+mn-lt"/>
                        </a:rPr>
                        <a:t>1 business day, if more information is needed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latin typeface="+mn-lt"/>
                          <a:hlinkClick r:id="rId5"/>
                        </a:rPr>
                        <a:t>cdi@discover.com</a:t>
                      </a:r>
                      <a:endParaRPr lang="en-US" sz="1000">
                        <a:latin typeface="+mn-lt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>
                          <a:latin typeface="+mn-lt"/>
                          <a:hlinkClick r:id="rId13"/>
                        </a:rPr>
                        <a:t>Artifactory Resources</a:t>
                      </a:r>
                      <a:endParaRPr lang="en-US" sz="100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571429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530508D-7B7D-7752-9735-4AB697BED3DB}"/>
              </a:ext>
            </a:extLst>
          </p:cNvPr>
          <p:cNvSpPr txBox="1"/>
          <p:nvPr/>
        </p:nvSpPr>
        <p:spPr>
          <a:xfrm>
            <a:off x="138221" y="393408"/>
            <a:ext cx="3689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Continuous Delivery Tools</a:t>
            </a:r>
          </a:p>
        </p:txBody>
      </p:sp>
    </p:spTree>
    <p:extLst>
      <p:ext uri="{BB962C8B-B14F-4D97-AF65-F5344CB8AC3E}">
        <p14:creationId xmlns:p14="http://schemas.microsoft.com/office/powerpoint/2010/main" val="1333455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BDA111C11E98748A9EB60FAD69A48F4" ma:contentTypeVersion="17" ma:contentTypeDescription="Create a new document." ma:contentTypeScope="" ma:versionID="74c7bd2b30ba0ea15106ba5ea6ac6a3e">
  <xsd:schema xmlns:xsd="http://www.w3.org/2001/XMLSchema" xmlns:xs="http://www.w3.org/2001/XMLSchema" xmlns:p="http://schemas.microsoft.com/office/2006/metadata/properties" xmlns:ns2="d6ef93e4-2941-481e-98ce-fcdb3e91819d" xmlns:ns3="b8901997-47ac-4b60-bf89-d85b00ec4619" targetNamespace="http://schemas.microsoft.com/office/2006/metadata/properties" ma:root="true" ma:fieldsID="2bbb2590366e035a24dd1ddd6a91dcc4" ns2:_="" ns3:_="">
    <xsd:import namespace="d6ef93e4-2941-481e-98ce-fcdb3e91819d"/>
    <xsd:import namespace="b8901997-47ac-4b60-bf89-d85b00ec461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ef93e4-2941-481e-98ce-fcdb3e91819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Length (seconds)" ma:internalName="MediaLengthInSeconds" ma:readOnly="true">
      <xsd:simpleType>
        <xsd:restriction base="dms:Unknown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492f411d-549d-4c24-927c-b1f8e1b23e0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8901997-47ac-4b60-bf89-d85b00ec4619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043c1770-f88f-4872-a195-eb782261baf2}" ma:internalName="TaxCatchAll" ma:showField="CatchAllData" ma:web="b8901997-47ac-4b60-bf89-d85b00ec461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6ef93e4-2941-481e-98ce-fcdb3e91819d">
      <Terms xmlns="http://schemas.microsoft.com/office/infopath/2007/PartnerControls"/>
    </lcf76f155ced4ddcb4097134ff3c332f>
    <TaxCatchAll xmlns="b8901997-47ac-4b60-bf89-d85b00ec4619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CBC1F73-173D-4047-8EF2-0AA383D29A09}">
  <ds:schemaRefs>
    <ds:schemaRef ds:uri="b8901997-47ac-4b60-bf89-d85b00ec4619"/>
    <ds:schemaRef ds:uri="d6ef93e4-2941-481e-98ce-fcdb3e91819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1FC73054-2504-440F-B248-2DF4FF5B89D4}">
  <ds:schemaRefs>
    <ds:schemaRef ds:uri="http://schemas.microsoft.com/office/2006/documentManagement/types"/>
    <ds:schemaRef ds:uri="http://purl.org/dc/dcmitype/"/>
    <ds:schemaRef ds:uri="http://schemas.microsoft.com/office/2006/metadata/properties"/>
    <ds:schemaRef ds:uri="http://www.w3.org/XML/1998/namespace"/>
    <ds:schemaRef ds:uri="http://purl.org/dc/terms/"/>
    <ds:schemaRef ds:uri="d6ef93e4-2941-481e-98ce-fcdb3e91819d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b8901997-47ac-4b60-bf89-d85b00ec4619"/>
  </ds:schemaRefs>
</ds:datastoreItem>
</file>

<file path=customXml/itemProps3.xml><?xml version="1.0" encoding="utf-8"?>
<ds:datastoreItem xmlns:ds="http://schemas.openxmlformats.org/officeDocument/2006/customXml" ds:itemID="{FAAB5506-C47A-4E6A-B655-933334381A79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bcc71aa7-c92e-49b0-a10c-8c6e039be242}" enabled="1" method="Privileged" siteId="{f3f068cf-080c-4824-a912-f8c4633bd454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2020</Words>
  <Application>Microsoft Office PowerPoint</Application>
  <PresentationFormat>Widescreen</PresentationFormat>
  <Paragraphs>472</Paragraphs>
  <Slides>8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DFSI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Alea Huggins</dc:creator>
  <cp:lastModifiedBy>Ibrahim Mohammed</cp:lastModifiedBy>
  <cp:revision>7</cp:revision>
  <dcterms:created xsi:type="dcterms:W3CDTF">2022-06-17T15:37:46Z</dcterms:created>
  <dcterms:modified xsi:type="dcterms:W3CDTF">2025-12-16T19:21:40Z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0x010100ABDA111C11E98748A9EB60FAD69A48F4</vt:lpwstr>
  </property>
  <property fmtid="{D5CDD505-2E9C-101B-9397-08002B2CF9AE}" pid="3" name="ClassificationContentMarkingFooterLocations">
    <vt:lpwstr>Office Theme:8</vt:lpwstr>
  </property>
  <property fmtid="{D5CDD505-2E9C-101B-9397-08002B2CF9AE}" pid="4" name="ClassificationContentMarkingFooterText">
    <vt:lpwstr>Internal</vt:lpwstr>
  </property>
  <property fmtid="{D5CDD505-2E9C-101B-9397-08002B2CF9AE}" pid="5" name="MediaServiceImageTags">
    <vt:lpwstr/>
  </property>
</Properties>
</file>